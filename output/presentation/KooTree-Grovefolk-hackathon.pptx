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d431b152a425f" /><Relationship Type="http://schemas.openxmlformats.org/officeDocument/2006/relationships/extended-properties" Target="/docProps/app.xml" Id="Ra4e8241888624e03" /><Relationship Type="http://schemas.openxmlformats.org/officeDocument/2006/relationships/officeDocument" Target="/ppt/presentation.xml" Id="R238adada10a049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37d4c4d4e400e"/>
  </p:sldMasterIdLst>
  <p:notesMasterIdLst>
    <p:notesMasterId xmlns:r="http://schemas.openxmlformats.org/officeDocument/2006/relationships" r:id="Rdfb6e87c8e0d4e2f"/>
  </p:notesMasterIdLst>
  <p:sldIdLst>
    <p:sldId xmlns:r="http://schemas.openxmlformats.org/officeDocument/2006/relationships" id="256" r:id="Rce85b360f11247ef"/>
    <p:sldId xmlns:r="http://schemas.openxmlformats.org/officeDocument/2006/relationships" id="257" r:id="R813fbfd6804a4c65"/>
    <p:sldId xmlns:r="http://schemas.openxmlformats.org/officeDocument/2006/relationships" id="258" r:id="R0ebc0b4b7bb1446d"/>
    <p:sldId xmlns:r="http://schemas.openxmlformats.org/officeDocument/2006/relationships" id="259" r:id="Ra1a2b27f8e4a4a27"/>
    <p:sldId xmlns:r="http://schemas.openxmlformats.org/officeDocument/2006/relationships" id="260" r:id="Ree605a2a1cc14919"/>
    <p:sldId xmlns:r="http://schemas.openxmlformats.org/officeDocument/2006/relationships" id="261" r:id="R96e34d8a6a96438a"/>
    <p:sldId xmlns:r="http://schemas.openxmlformats.org/officeDocument/2006/relationships" id="262" r:id="Rcfc5596951ff4e45"/>
    <p:sldId xmlns:r="http://schemas.openxmlformats.org/officeDocument/2006/relationships" id="263" r:id="Recbb7913068a4dc2"/>
    <p:sldId xmlns:r="http://schemas.openxmlformats.org/officeDocument/2006/relationships" id="264" r:id="Rc9d12b5b3ef64c7b"/>
    <p:sldId xmlns:r="http://schemas.openxmlformats.org/officeDocument/2006/relationships" id="265" r:id="R3802fd08afcc4065"/>
    <p:sldId xmlns:r="http://schemas.openxmlformats.org/officeDocument/2006/relationships" id="266" r:id="R7e612d045b2642f7"/>
    <p:sldId xmlns:r="http://schemas.openxmlformats.org/officeDocument/2006/relationships" id="267" r:id="R94aadf15cfd144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11027123b492a" /><Relationship Type="http://schemas.openxmlformats.org/officeDocument/2006/relationships/slideMaster" Target="/ppt/slideMasters/slideMaster1.xml" Id="Raf137d4c4d4e400e" /><Relationship Type="http://schemas.openxmlformats.org/officeDocument/2006/relationships/notesMaster" Target="/ppt/notesMasters/notesMaster1.xml" Id="Rdfb6e87c8e0d4e2f" /><Relationship Type="http://schemas.openxmlformats.org/officeDocument/2006/relationships/presProps" Target="/ppt/presProps.xml" Id="Ra721c9841dd54c73" /><Relationship Type="http://schemas.openxmlformats.org/officeDocument/2006/relationships/tableStyles" Target="/ppt/tableStyles.xml" Id="R0f6bcda18e69492c" /><Relationship Type="http://schemas.openxmlformats.org/officeDocument/2006/relationships/slide" Target="/ppt/slides/slide1.xml" Id="Rce85b360f11247ef" /><Relationship Type="http://schemas.openxmlformats.org/officeDocument/2006/relationships/slide" Target="/ppt/slides/slide2.xml" Id="R813fbfd6804a4c65" /><Relationship Type="http://schemas.openxmlformats.org/officeDocument/2006/relationships/slide" Target="/ppt/slides/slide3.xml" Id="R0ebc0b4b7bb1446d" /><Relationship Type="http://schemas.openxmlformats.org/officeDocument/2006/relationships/slide" Target="/ppt/slides/slide4.xml" Id="Ra1a2b27f8e4a4a27" /><Relationship Type="http://schemas.openxmlformats.org/officeDocument/2006/relationships/slide" Target="/ppt/slides/slide5.xml" Id="Ree605a2a1cc14919" /><Relationship Type="http://schemas.openxmlformats.org/officeDocument/2006/relationships/slide" Target="/ppt/slides/slide6.xml" Id="R96e34d8a6a96438a" /><Relationship Type="http://schemas.openxmlformats.org/officeDocument/2006/relationships/slide" Target="/ppt/slides/slide7.xml" Id="Rcfc5596951ff4e45" /><Relationship Type="http://schemas.openxmlformats.org/officeDocument/2006/relationships/slide" Target="/ppt/slides/slide8.xml" Id="Recbb7913068a4dc2" /><Relationship Type="http://schemas.openxmlformats.org/officeDocument/2006/relationships/slide" Target="/ppt/slides/slide9.xml" Id="Rc9d12b5b3ef64c7b" /><Relationship Type="http://schemas.openxmlformats.org/officeDocument/2006/relationships/slide" Target="/ppt/slides/slide10.xml" Id="R3802fd08afcc4065" /><Relationship Type="http://schemas.openxmlformats.org/officeDocument/2006/relationships/slide" Target="/ppt/slides/slide11.xml" Id="R7e612d045b2642f7" /><Relationship Type="http://schemas.openxmlformats.org/officeDocument/2006/relationships/slide" Target="/ppt/slides/slide12.xml" Id="R94aadf15cfd1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dfdfca9792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7faa643924e82" /><Relationship Type="http://schemas.openxmlformats.org/officeDocument/2006/relationships/notesMaster" Target="/ppt/notesMasters/notesMaster1.xml" Id="R14d7c558f8f9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0dd07cbe04951" /><Relationship Type="http://schemas.openxmlformats.org/officeDocument/2006/relationships/notesMaster" Target="/ppt/notesMasters/notesMaster1.xml" Id="R6386672f0ab8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4aec6c36b4c22" /><Relationship Type="http://schemas.openxmlformats.org/officeDocument/2006/relationships/notesMaster" Target="/ppt/notesMasters/notesMaster1.xml" Id="R844d43db78aa4d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533c8719b94f45" /><Relationship Type="http://schemas.openxmlformats.org/officeDocument/2006/relationships/notesMaster" Target="/ppt/notesMasters/notesMaster1.xml" Id="Rb38d2aaa0ebb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3a8f24d834de6" /><Relationship Type="http://schemas.openxmlformats.org/officeDocument/2006/relationships/notesMaster" Target="/ppt/notesMasters/notesMaster1.xml" Id="R7bce5d17e1bc48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7db0f542d4a0b" /><Relationship Type="http://schemas.openxmlformats.org/officeDocument/2006/relationships/notesMaster" Target="/ppt/notesMasters/notesMaster1.xml" Id="R58aed1005a9d4d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dc1845acc4a21" /><Relationship Type="http://schemas.openxmlformats.org/officeDocument/2006/relationships/notesMaster" Target="/ppt/notesMasters/notesMaster1.xml" Id="Rc144a0103e854d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1f06b78fbc4490" /><Relationship Type="http://schemas.openxmlformats.org/officeDocument/2006/relationships/notesMaster" Target="/ppt/notesMasters/notesMaster1.xml" Id="R3192dffd49fa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cefc4226046a1" /><Relationship Type="http://schemas.openxmlformats.org/officeDocument/2006/relationships/notesMaster" Target="/ppt/notesMasters/notesMaster1.xml" Id="Rce14a7a4accc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8a188152bf4b03" /><Relationship Type="http://schemas.openxmlformats.org/officeDocument/2006/relationships/notesMaster" Target="/ppt/notesMasters/notesMaster1.xml" Id="R759b489bfd9a49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c0157112db418a" /><Relationship Type="http://schemas.openxmlformats.org/officeDocument/2006/relationships/notesMaster" Target="/ppt/notesMasters/notesMaster1.xml" Id="R5608c30ee3aa4a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3c90a12344f66" /><Relationship Type="http://schemas.openxmlformats.org/officeDocument/2006/relationships/notesMaster" Target="/ppt/notesMasters/notesMaster1.xml" Id="Re75ef08078e54a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封面品牌插畫為專案既有生成式示意圖，非實景紀錄。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問題與使用者需求為產品假設，尚未有訪談或量化研究佐證。插畫：assets/branding/kootree-care-journey.png，專案既有示意素材。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Grovefolk feed 已能輸出，KooTree 既有後台尚未顯示此 feed。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本機 trees_clean.csv 計算：90,358 筆、12 個行政區、292 個樹種欄位唯一值。後者不宣稱為分類學物種數。官方原始資料欄位及 TWD97 轉換見 README.md、scripts/data_loader.py。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畫面來源 W:/00_workspace/Grovefolk/data/game-shell-16.png，既有版本截圖。地圖底圖 © OpenStreetMap contributors。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依 Grovefolk README 與 server.py：掃碼憑證綁定玩家及 tree_id，3 分鐘有效、一次使用。預設 nearby 距離 80m、GPS 精度 50m，可由管理參數調整。QR 與 GPS 均可被轉傳或偽造，不能證明實際到訪。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截圖 output/refined-map-markers.png 為既有樹咱命名版本，現行品牌為 KooTree。底圖 © OpenStreetMap contributors。畫面中的通報與風險屬模擬示範。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來源 data/treesmatch-provenance.json、README.md，快照下載於 2026-10-21。76 則公開說明、66 則具概略座標。官方來源 https://treesmatch.gov.taipei/pkl/public/tree-map/api/clarifications.geojson ，政府資料開放授權條款第1版。截圖 output/official-cases-preview.png，既有版本。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架構依兩專案 README。Grovefolk 使用 SQLite 保存觀察，另原子更新 grovefolk-observations.json。該 feed 不含玩家 ID、私人文字與精確裝置座標。KooTree 尚未顯示此 feed，無正式機關工單串接。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功能狀態依 README 與 Grovefolk README。季節影像與社區玩法來源 docs/樹咱遊戲化與季節影像發想.md，屬提案。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試點與指標為本簡報建議，非既有成果與交付承諾。沒有提出已驗證的留存率或辨識準確率。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結尾圖：assets/branding/kootree-grove-cooperation-keyvisual-v3.png，既有品牌插畫，原圖含英文 Kootree。合作與永續影響為願景，沒有量化成效宣稱。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f181da80a48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bf68a648042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fa3a18d5046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e01be2c7941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5f98a7bad44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68434b5f6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9A700-CDE4-4637-ACA3-33ED96912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9D3138-0D13-4DC2-BFC5-A83CA4EDF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51B966-8031-4252-9243-85F2B78C3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443766-B782-4228-8FA8-65BA59835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133CAD-83E4-469F-846A-45CB8D596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A7AEB3-F7A5-4BD9-BD18-E979D5916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C8C93-C97C-4A9B-97EE-257AF6ED2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028B38-BDB0-457C-A302-36591DEAB3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DE362-3C06-4EC9-9B64-4009DFD72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C9A35B-E7E3-4684-B377-A73345312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d0ada963145b6" /><Relationship Type="http://schemas.openxmlformats.org/officeDocument/2006/relationships/slideLayout" Target="/ppt/slideLayouts/slideLayout1.xml" Id="Ref146357378d4fee" /><Relationship Type="http://schemas.openxmlformats.org/officeDocument/2006/relationships/slideLayout" Target="/ppt/slideLayouts/slideLayout2.xml" Id="R58b63577b9b74c11" /><Relationship Type="http://schemas.openxmlformats.org/officeDocument/2006/relationships/slideLayout" Target="/ppt/slideLayouts/slideLayout3.xml" Id="R32d2f199774e4294" /><Relationship Type="http://schemas.openxmlformats.org/officeDocument/2006/relationships/slideLayout" Target="/ppt/slideLayouts/slideLayout4.xml" Id="Readf4325543e4423" /><Relationship Type="http://schemas.openxmlformats.org/officeDocument/2006/relationships/slideLayout" Target="/ppt/slideLayouts/slideLayout5.xml" Id="Rde6571c25cc04159" /><Relationship Type="http://schemas.openxmlformats.org/officeDocument/2006/relationships/slideLayout" Target="/ppt/slideLayouts/slideLayout6.xml" Id="Rec555ccbedcd45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46357378d4fee"/>
    <p:sldLayoutId xmlns:r="http://schemas.openxmlformats.org/officeDocument/2006/relationships" id="2147483650" r:id="R58b63577b9b74c11"/>
    <p:sldLayoutId xmlns:r="http://schemas.openxmlformats.org/officeDocument/2006/relationships" id="2147483651" r:id="R32d2f199774e4294"/>
    <p:sldLayoutId xmlns:r="http://schemas.openxmlformats.org/officeDocument/2006/relationships" id="2147483652" r:id="Readf4325543e4423"/>
    <p:sldLayoutId xmlns:r="http://schemas.openxmlformats.org/officeDocument/2006/relationships" id="2147483653" r:id="Rde6571c25cc04159"/>
    <p:sldLayoutId xmlns:r="http://schemas.openxmlformats.org/officeDocument/2006/relationships" id="2147483654" r:id="Rec555ccbedcd45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bca748d65462f" /><Relationship Type="http://schemas.openxmlformats.org/officeDocument/2006/relationships/image" Target="/ppt/media/image.png" Id="R14c63e135e064f41" /><Relationship Type="http://schemas.openxmlformats.org/officeDocument/2006/relationships/notesSlide" Target="/ppt/notesSlides/notesSlide1.xml" Id="R84a6f7463720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fd0d93c124461" /><Relationship Type="http://schemas.openxmlformats.org/officeDocument/2006/relationships/image" Target="/ppt/media/image2.png" Id="Rba82cffcda9247c3" /><Relationship Type="http://schemas.openxmlformats.org/officeDocument/2006/relationships/notesSlide" Target="/ppt/notesSlides/notesSlide2.xml" Id="R48e2c554da79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1761d299d40dd" /><Relationship Type="http://schemas.openxmlformats.org/officeDocument/2006/relationships/notesSlide" Target="/ppt/notesSlides/notesSlide3.xml" Id="Rcaf24c125a594a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532ab2f8d471e" /><Relationship Type="http://schemas.openxmlformats.org/officeDocument/2006/relationships/notesSlide" Target="/ppt/notesSlides/notesSlide4.xml" Id="Rce6423853a404f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7235e90a14ba0" /><Relationship Type="http://schemas.openxmlformats.org/officeDocument/2006/relationships/image" Target="/ppt/media/image.jpeg" Id="Rc2ea3c92cb044c01" /><Relationship Type="http://schemas.openxmlformats.org/officeDocument/2006/relationships/notesSlide" Target="/ppt/notesSlides/notesSlide5.xml" Id="R556befec3862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03d71da5340d7" /><Relationship Type="http://schemas.openxmlformats.org/officeDocument/2006/relationships/notesSlide" Target="/ppt/notesSlides/notesSlide6.xml" Id="Rcc43b1d723ce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584c069e44cf3" /><Relationship Type="http://schemas.openxmlformats.org/officeDocument/2006/relationships/image" Target="/ppt/media/image2.jpeg" Id="Ra487cae8cecb4c39" /><Relationship Type="http://schemas.openxmlformats.org/officeDocument/2006/relationships/notesSlide" Target="/ppt/notesSlides/notesSlide7.xml" Id="Rd9e97ef9561a4b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0f9c9a3c24619" /><Relationship Type="http://schemas.openxmlformats.org/officeDocument/2006/relationships/image" Target="/ppt/media/image3.jpeg" Id="R5c7681b25d9e4047" /><Relationship Type="http://schemas.openxmlformats.org/officeDocument/2006/relationships/notesSlide" Target="/ppt/notesSlides/notesSlide8.xml" Id="Rb06bea29f89040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72722643040b2" /><Relationship Type="http://schemas.openxmlformats.org/officeDocument/2006/relationships/notesSlide" Target="/ppt/notesSlides/notesSlide9.xml" Id="R166656c13834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2d77bd766466f" /><Relationship Type="http://schemas.openxmlformats.org/officeDocument/2006/relationships/notesSlide" Target="/ppt/notesSlides/notesSlide10.xml" Id="Rceb636297d41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3101cb5854a12" /><Relationship Type="http://schemas.openxmlformats.org/officeDocument/2006/relationships/notesSlide" Target="/ppt/notesSlides/notesSlide11.xml" Id="R9fa4373b2b624d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5041f7b4644c6" /><Relationship Type="http://schemas.openxmlformats.org/officeDocument/2006/relationships/image" Target="/ppt/media/image3.png" Id="R0144b129e26542e7" /><Relationship Type="http://schemas.openxmlformats.org/officeDocument/2006/relationships/notesSlide" Target="/ppt/notesSlides/notesSlide12.xml" Id="R7dd6d8cdb18040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做伙顧樹 KooTree">
            <a:extLst xmlns:a="http://schemas.openxmlformats.org/drawingml/2006/main">
              <a:ext uri="{FF2B5EF4-FFF2-40B4-BE49-F238E27FC236}">
                <a16:creationId xmlns:a16="http://schemas.microsoft.com/office/drawing/2014/main" id="{26D51599-40D4-4EB0-A6E1-591CE20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 KooTree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CFE446F-00BD-4449-B023-68015AD7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城市樹木資訊與公民照護平台">
            <a:extLst xmlns:a="http://schemas.openxmlformats.org/drawingml/2006/main">
              <a:ext uri="{FF2B5EF4-FFF2-40B4-BE49-F238E27FC236}">
                <a16:creationId xmlns:a16="http://schemas.microsoft.com/office/drawing/2014/main" id="{62319E3A-D465-4A58-AAC7-C5999DB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城市樹木資訊與公民照護平台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89C66-17BC-4F5C-9C02-EDA7B11CB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63e135e064f41"/>
          <a:stretch xmlns:a="http://schemas.openxmlformats.org/drawingml/2006/main"/>
        </p:blipFill>
        <p:spPr>
          <a:xfrm xmlns:a="http://schemas.openxmlformats.org/drawingml/2006/main">
            <a:off x="5357813" y="2000250"/>
            <a:ext cx="6429375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把街角的一棵樹&#10;變成願意再次探訪的老朋友">
            <a:extLst xmlns:a="http://schemas.openxmlformats.org/drawingml/2006/main">
              <a:ext uri="{FF2B5EF4-FFF2-40B4-BE49-F238E27FC236}">
                <a16:creationId xmlns:a16="http://schemas.microsoft.com/office/drawing/2014/main" id="{4B985650-FAE8-4D8C-990A-BBA2895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把街角的一棵樹</a:t>
            </a:r>
          </a:p>
          <a:p xmlns:a="http://schemas.openxmlformats.org/drawingml/2006/main">
            <a: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變成願意再次探訪的老朋友</a:t>
            </a:r>
          </a:p>
        </p:txBody>
      </p:sp>
      <p:sp>
        <p:nvSpPr>
          <p:cNvPr id="6" name="公民互動 Grovefolk&#10;樹木資料與分析 K">
            <a:extLst xmlns:a="http://schemas.openxmlformats.org/drawingml/2006/main">
              <a:ext uri="{FF2B5EF4-FFF2-40B4-BE49-F238E27FC236}">
                <a16:creationId xmlns:a16="http://schemas.microsoft.com/office/drawing/2014/main" id="{EC2478FD-FBA3-4542-A7DD-C5B4196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公民互動 Grovefolk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樹木資料與分析 KooTree</a:t>
            </a:r>
          </a:p>
        </p:txBody>
      </p:sp>
      <p:sp>
        <p:nvSpPr>
          <p:cNvPr id="7" name="黑客松專案介紹　2026.10">
            <a:extLst xmlns:a="http://schemas.openxmlformats.org/drawingml/2006/main">
              <a:ext uri="{FF2B5EF4-FFF2-40B4-BE49-F238E27FC236}">
                <a16:creationId xmlns:a16="http://schemas.microsoft.com/office/drawing/2014/main" id="{7F850EEF-D200-462C-BAC8-3F13BE0F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黑客松專案介紹　2026.10</a:t>
            </a:r>
          </a:p>
        </p:txBody>
      </p:sp>
    </p:spTree>
    <p:extLst>
      <p:ext uri="{BB962C8B-B14F-4D97-AF65-F5344CB8AC3E}">
        <p14:creationId xmlns:p14="http://schemas.microsoft.com/office/powerpoint/2010/main" val="1661680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街角的樹，缺少持續被關心的理由">
            <a:extLst xmlns:a="http://schemas.openxmlformats.org/drawingml/2006/main">
              <a:ext uri="{FF2B5EF4-FFF2-40B4-BE49-F238E27FC236}">
                <a16:creationId xmlns:a16="http://schemas.microsoft.com/office/drawing/2014/main" id="{2AB6943C-02B7-462A-BE2A-162F656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街角的樹，缺少持續被關心的理由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A505AB0-52FA-4A0E-A07A-EB8D6AA6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我們要驗證的問題假設">
            <a:extLst xmlns:a="http://schemas.openxmlformats.org/drawingml/2006/main">
              <a:ext uri="{FF2B5EF4-FFF2-40B4-BE49-F238E27FC236}">
                <a16:creationId xmlns:a16="http://schemas.microsoft.com/office/drawing/2014/main" id="{FDF1E5A9-F229-447B-92E4-C6E2050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我們要驗證的問題假設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DD1E2-9429-4BA5-8F3A-6FF2F4514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2cffcda9247c3"/>
          <a:stretch xmlns:a="http://schemas.openxmlformats.org/drawingml/2006/main"/>
        </p:blipFill>
        <p:spPr>
          <a:xfrm xmlns:a="http://schemas.openxmlformats.org/drawingml/2006/main">
            <a:off x="1238250" y="2000250"/>
            <a:ext cx="971550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路過，卻不認識">
            <a:extLst xmlns:a="http://schemas.openxmlformats.org/drawingml/2006/main">
              <a:ext uri="{FF2B5EF4-FFF2-40B4-BE49-F238E27FC236}">
                <a16:creationId xmlns:a16="http://schemas.microsoft.com/office/drawing/2014/main" id="{AEFBBC8D-23C5-426C-91CE-28B9DA8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路過，卻不認識</a:t>
            </a:r>
          </a:p>
        </p:txBody>
      </p:sp>
      <p:sp>
        <p:nvSpPr>
          <p:cNvPr id="6" name="想參與，缺少入口">
            <a:extLst xmlns:a="http://schemas.openxmlformats.org/drawingml/2006/main">
              <a:ext uri="{FF2B5EF4-FFF2-40B4-BE49-F238E27FC236}">
                <a16:creationId xmlns:a16="http://schemas.microsoft.com/office/drawing/2014/main" id="{D782006F-67AB-4D8F-AA66-38469E7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想參與，缺少入口</a:t>
            </a:r>
          </a:p>
        </p:txBody>
      </p:sp>
      <p:sp>
        <p:nvSpPr>
          <p:cNvPr id="7" name="有資料，難連成線">
            <a:extLst xmlns:a="http://schemas.openxmlformats.org/drawingml/2006/main">
              <a:ext uri="{FF2B5EF4-FFF2-40B4-BE49-F238E27FC236}">
                <a16:creationId xmlns:a16="http://schemas.microsoft.com/office/drawing/2014/main" id="{7E133B3E-FDC9-4F7E-8FD9-073D6B3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有資料，難連成線</a:t>
            </a:r>
          </a:p>
        </p:txBody>
      </p:sp>
      <p:sp>
        <p:nvSpPr>
          <p:cNvPr id="8" name="關注需要持續">
            <a:extLst xmlns:a="http://schemas.openxmlformats.org/drawingml/2006/main">
              <a:ext uri="{FF2B5EF4-FFF2-40B4-BE49-F238E27FC236}">
                <a16:creationId xmlns:a16="http://schemas.microsoft.com/office/drawing/2014/main" id="{91571559-AFF5-41D2-834B-FDE2F26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關注需要持續</a:t>
            </a:r>
          </a:p>
        </p:txBody>
      </p:sp>
      <p:sp>
        <p:nvSpPr>
          <p:cNvPr id="9" name="居民不容易認出身邊樹木">
            <a:extLst xmlns:a="http://schemas.openxmlformats.org/drawingml/2006/main">
              <a:ext uri="{FF2B5EF4-FFF2-40B4-BE49-F238E27FC236}">
                <a16:creationId xmlns:a16="http://schemas.microsoft.com/office/drawing/2014/main" id="{9DB7F428-E55E-47B4-938D-98E2AF6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居民不容易認出身邊樹木</a:t>
            </a:r>
          </a:p>
        </p:txBody>
      </p:sp>
      <p:sp>
        <p:nvSpPr>
          <p:cNvPr id="10" name="一次觀察如何累積價值？">
            <a:extLst xmlns:a="http://schemas.openxmlformats.org/drawingml/2006/main">
              <a:ext uri="{FF2B5EF4-FFF2-40B4-BE49-F238E27FC236}">
                <a16:creationId xmlns:a16="http://schemas.microsoft.com/office/drawing/2014/main" id="{50B74FF0-5A5D-4B5D-848E-73608CC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一次觀察如何累積價值？</a:t>
            </a:r>
          </a:p>
        </p:txBody>
      </p:sp>
      <p:sp>
        <p:nvSpPr>
          <p:cNvPr id="11" name="官方資料與觀察分散">
            <a:extLst xmlns:a="http://schemas.openxmlformats.org/drawingml/2006/main">
              <a:ext uri="{FF2B5EF4-FFF2-40B4-BE49-F238E27FC236}">
                <a16:creationId xmlns:a16="http://schemas.microsoft.com/office/drawing/2014/main" id="{1EC10228-C3CF-4D8D-A2AE-79B15B3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官方資料與觀察分散</a:t>
            </a:r>
          </a:p>
        </p:txBody>
      </p:sp>
      <p:sp>
        <p:nvSpPr>
          <p:cNvPr id="12" name="回訪動機仍待實測">
            <a:extLst xmlns:a="http://schemas.openxmlformats.org/drawingml/2006/main">
              <a:ext uri="{FF2B5EF4-FFF2-40B4-BE49-F238E27FC236}">
                <a16:creationId xmlns:a16="http://schemas.microsoft.com/office/drawing/2014/main" id="{6ED113C0-B8FF-4E67-8218-798CECD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回訪動機仍待實測</a:t>
            </a:r>
          </a:p>
        </p:txBody>
      </p:sp>
    </p:spTree>
    <p:extLst>
      <p:ext uri="{BB962C8B-B14F-4D97-AF65-F5344CB8AC3E}">
        <p14:creationId xmlns:p14="http://schemas.microsoft.com/office/powerpoint/2010/main" val="1627345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個專案，兩個參與入口">
            <a:extLst xmlns:a="http://schemas.openxmlformats.org/drawingml/2006/main">
              <a:ext uri="{FF2B5EF4-FFF2-40B4-BE49-F238E27FC236}">
                <a16:creationId xmlns:a16="http://schemas.microsoft.com/office/drawing/2014/main" id="{7F02342A-80B2-42ED-B3A8-D6D4B48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一個專案，兩個參與入口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75AEAAD3-677A-4C93-9608-71A6B6D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居民端">
            <a:extLst xmlns:a="http://schemas.openxmlformats.org/drawingml/2006/main">
              <a:ext uri="{FF2B5EF4-FFF2-40B4-BE49-F238E27FC236}">
                <a16:creationId xmlns:a16="http://schemas.microsoft.com/office/drawing/2014/main" id="{15249384-35B1-4491-AE8A-665E7F5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居民端</a:t>
            </a:r>
          </a:p>
        </p:txBody>
      </p:sp>
      <p:sp>
        <p:nvSpPr>
          <p:cNvPr id="4" name="森鄰鬥相共 Grovefolk">
            <a:extLst xmlns:a="http://schemas.openxmlformats.org/drawingml/2006/main">
              <a:ext uri="{FF2B5EF4-FFF2-40B4-BE49-F238E27FC236}">
                <a16:creationId xmlns:a16="http://schemas.microsoft.com/office/drawing/2014/main" id="{FCD3F48C-FE6E-44CD-BAF1-A3FD880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森鄰鬥相共 Grovefolk</a:t>
            </a:r>
          </a:p>
        </p:txBody>
      </p:sp>
      <p:sp>
        <p:nvSpPr>
          <p:cNvPr id="5" name="探索附近真實樹位&#10;掃描官方樹牌並留下觀察&#10;用相識">
            <a:extLst xmlns:a="http://schemas.openxmlformats.org/drawingml/2006/main">
              <a:ext uri="{FF2B5EF4-FFF2-40B4-BE49-F238E27FC236}">
                <a16:creationId xmlns:a16="http://schemas.microsoft.com/office/drawing/2014/main" id="{FE8A22BF-84D9-4476-A662-95D3B1A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探索附近真實樹位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掃描官方樹牌並留下觀察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用相識與夥伴關係鼓勵回訪</a:t>
            </a:r>
          </a:p>
        </p:txBody>
      </p:sp>
      <p:sp>
        <p:nvSpPr>
          <p:cNvPr id="6" name="資料端">
            <a:extLst xmlns:a="http://schemas.openxmlformats.org/drawingml/2006/main">
              <a:ext uri="{FF2B5EF4-FFF2-40B4-BE49-F238E27FC236}">
                <a16:creationId xmlns:a16="http://schemas.microsoft.com/office/drawing/2014/main" id="{2A461C8B-6A9F-4132-B1C8-F62642D6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28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資料端</a:t>
            </a:r>
          </a:p>
        </p:txBody>
      </p:sp>
      <p:sp>
        <p:nvSpPr>
          <p:cNvPr id="7" name="做伙顧樹 KooTree">
            <a:extLst xmlns:a="http://schemas.openxmlformats.org/drawingml/2006/main">
              <a:ext uri="{FF2B5EF4-FFF2-40B4-BE49-F238E27FC236}">
                <a16:creationId xmlns:a16="http://schemas.microsoft.com/office/drawing/2014/main" id="{F1160D27-4AC2-410A-ADB2-CB15E85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 KooTree</a:t>
            </a:r>
          </a:p>
        </p:txBody>
      </p:sp>
      <p:sp>
        <p:nvSpPr>
          <p:cNvPr id="8" name="查詢樹木分布與明細&#10;閱讀官方移除／移植說明&#10;示範">
            <a:extLst xmlns:a="http://schemas.openxmlformats.org/drawingml/2006/main">
              <a:ext uri="{FF2B5EF4-FFF2-40B4-BE49-F238E27FC236}">
                <a16:creationId xmlns:a16="http://schemas.microsoft.com/office/drawing/2014/main" id="{C95AD2A4-B8B0-41C1-AA49-3436B33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查詢樹木分布與明細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閱讀官方移除／移植說明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示範巡檢與養護分析</a:t>
            </a:r>
          </a:p>
        </p:txBody>
      </p:sp>
      <p:sp>
        <p:nvSpPr>
          <p:cNvPr id="9" name="共同依據：官方樹木編號">
            <a:extLst xmlns:a="http://schemas.openxmlformats.org/drawingml/2006/main">
              <a:ext uri="{FF2B5EF4-FFF2-40B4-BE49-F238E27FC236}">
                <a16:creationId xmlns:a16="http://schemas.microsoft.com/office/drawing/2014/main" id="{ABF612A3-3C68-4DE7-8515-6FB1C27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共同依據：官方樹木編號</a:t>
            </a:r>
          </a:p>
        </p:txBody>
      </p:sp>
      <p:sp>
        <p:nvSpPr>
          <p:cNvPr id="10" name="公民觀察已可輸出整合檔；KooTree 後台顯示">
            <a:extLst xmlns:a="http://schemas.openxmlformats.org/drawingml/2006/main">
              <a:ext uri="{FF2B5EF4-FFF2-40B4-BE49-F238E27FC236}">
                <a16:creationId xmlns:a16="http://schemas.microsoft.com/office/drawing/2014/main" id="{0286B099-7D2E-44A5-9ACF-15FB26D7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公民觀察已可輸出整合檔；KooTree 後台顯示串接仍待完成</a:t>
            </a:r>
          </a:p>
        </p:txBody>
      </p:sp>
    </p:spTree>
    <p:extLst>
      <p:ext uri="{BB962C8B-B14F-4D97-AF65-F5344CB8AC3E}">
        <p14:creationId xmlns:p14="http://schemas.microsoft.com/office/powerpoint/2010/main" val="202105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以臺北行道樹開放資料為底座">
            <a:extLst xmlns:a="http://schemas.openxmlformats.org/drawingml/2006/main">
              <a:ext uri="{FF2B5EF4-FFF2-40B4-BE49-F238E27FC236}">
                <a16:creationId xmlns:a16="http://schemas.microsoft.com/office/drawing/2014/main" id="{C4200D98-F073-42B4-9B3E-55BD6C6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以臺北行道樹開放資料為底座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8D44723-B25C-404B-8C9F-F30FA27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90,358">
            <a:extLst xmlns:a="http://schemas.openxmlformats.org/drawingml/2006/main">
              <a:ext uri="{FF2B5EF4-FFF2-40B4-BE49-F238E27FC236}">
                <a16:creationId xmlns:a16="http://schemas.microsoft.com/office/drawing/2014/main" id="{63D9FF2C-EDBB-4CEC-8A5F-EEBD560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90,358</a:t>
            </a:r>
          </a:p>
        </p:txBody>
      </p:sp>
      <p:sp>
        <p:nvSpPr>
          <p:cNvPr id="4" name="筆行道樹資料">
            <a:extLst xmlns:a="http://schemas.openxmlformats.org/drawingml/2006/main">
              <a:ext uri="{FF2B5EF4-FFF2-40B4-BE49-F238E27FC236}">
                <a16:creationId xmlns:a16="http://schemas.microsoft.com/office/drawing/2014/main" id="{E28910F4-57EC-4772-8C88-209DFFC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筆行道樹資料</a:t>
            </a:r>
          </a:p>
        </p:txBody>
      </p:sp>
      <p:sp>
        <p:nvSpPr>
          <p:cNvPr id="5" name="本機清理快照，非即時全市總量">
            <a:extLst xmlns:a="http://schemas.openxmlformats.org/drawingml/2006/main">
              <a:ext uri="{FF2B5EF4-FFF2-40B4-BE49-F238E27FC236}">
                <a16:creationId xmlns:a16="http://schemas.microsoft.com/office/drawing/2014/main" id="{18261F68-6462-47F0-A5F2-25B4BA8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本機清理快照，非即時全市總量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F094CA46-9942-4018-A646-152A0E9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716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個行政區">
            <a:extLst xmlns:a="http://schemas.openxmlformats.org/drawingml/2006/main">
              <a:ext uri="{FF2B5EF4-FFF2-40B4-BE49-F238E27FC236}">
                <a16:creationId xmlns:a16="http://schemas.microsoft.com/office/drawing/2014/main" id="{DE182F21-4529-4475-914D-698130DE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146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個行政區</a:t>
            </a:r>
          </a:p>
        </p:txBody>
      </p:sp>
      <p:sp>
        <p:nvSpPr>
          <p:cNvPr id="8" name="可用欄位">
            <a:extLst xmlns:a="http://schemas.openxmlformats.org/drawingml/2006/main">
              <a:ext uri="{FF2B5EF4-FFF2-40B4-BE49-F238E27FC236}">
                <a16:creationId xmlns:a16="http://schemas.microsoft.com/office/drawing/2014/main" id="{A44C8D02-B15C-430A-8C97-101137B9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可用欄位</a:t>
            </a:r>
          </a:p>
        </p:txBody>
      </p:sp>
      <p:sp>
        <p:nvSpPr>
          <p:cNvPr id="9" name="樹木編號、樹種、位置、胸徑、樹高與調查日期">
            <a:extLst xmlns:a="http://schemas.openxmlformats.org/drawingml/2006/main">
              <a:ext uri="{FF2B5EF4-FFF2-40B4-BE49-F238E27FC236}">
                <a16:creationId xmlns:a16="http://schemas.microsoft.com/office/drawing/2014/main" id="{F3BBBE04-821E-4D6B-8E3C-9CBFA36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樹木編號、樹種、位置、胸徑、樹高與調查日期</a:t>
            </a:r>
          </a:p>
        </p:txBody>
      </p:sp>
      <p:sp>
        <p:nvSpPr>
          <p:cNvPr id="10" name="TWD97 座標轉為 WGS84，供地圖查詢與樹">
            <a:extLst xmlns:a="http://schemas.openxmlformats.org/drawingml/2006/main">
              <a:ext uri="{FF2B5EF4-FFF2-40B4-BE49-F238E27FC236}">
                <a16:creationId xmlns:a16="http://schemas.microsoft.com/office/drawing/2014/main" id="{13336FB1-DEAA-4E3E-BBFE-325FFD02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TWD97 座標轉為 WGS84，供地圖查詢與樹木定位</a:t>
            </a:r>
          </a:p>
        </p:txBody>
      </p:sp>
    </p:spTree>
    <p:extLst>
      <p:ext uri="{BB962C8B-B14F-4D97-AF65-F5344CB8AC3E}">
        <p14:creationId xmlns:p14="http://schemas.microsoft.com/office/powerpoint/2010/main" val="535744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公民端：探索附近的樹靈">
            <a:extLst xmlns:a="http://schemas.openxmlformats.org/drawingml/2006/main">
              <a:ext uri="{FF2B5EF4-FFF2-40B4-BE49-F238E27FC236}">
                <a16:creationId xmlns:a16="http://schemas.microsoft.com/office/drawing/2014/main" id="{2F0832AA-C4DA-4805-946F-76120C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公民端：探索附近的樹靈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7B7CF961-BC32-4E11-BDFD-7E51BBA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B6EE2-8D8C-4D54-986F-E318B4A4C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a3c92cb044c01"/>
          <a:stretch xmlns:a="http://schemas.openxmlformats.org/drawingml/2006/main"/>
        </p:blipFill>
        <p:spPr>
          <a:xfrm xmlns:a="http://schemas.openxmlformats.org/drawingml/2006/main">
            <a:off x="677924" y="1428750"/>
            <a:ext cx="36543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真實樹位，放進日常散步">
            <a:extLst xmlns:a="http://schemas.openxmlformats.org/drawingml/2006/main">
              <a:ext uri="{FF2B5EF4-FFF2-40B4-BE49-F238E27FC236}">
                <a16:creationId xmlns:a16="http://schemas.microsoft.com/office/drawing/2014/main" id="{80201254-3AFB-488E-8939-4930BE2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真實樹位，放進日常散步</a:t>
            </a:r>
          </a:p>
        </p:txBody>
      </p:sp>
      <p:sp>
        <p:nvSpPr>
          <p:cNvPr id="5" name="地圖顯示附近樹木。&#10;點選樹靈後設定目標或步行導航">
            <a:extLst xmlns:a="http://schemas.openxmlformats.org/drawingml/2006/main">
              <a:ext uri="{FF2B5EF4-FFF2-40B4-BE49-F238E27FC236}">
                <a16:creationId xmlns:a16="http://schemas.microsoft.com/office/drawing/2014/main" id="{A89BCE4D-9F2E-400F-A92A-51A79E5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地圖顯示附近樹木。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點選樹靈後設定目標或步行導航。</a:t>
            </a:r>
          </a:p>
        </p:txBody>
      </p:sp>
      <p:sp>
        <p:nvSpPr>
          <p:cNvPr id="6" name="從初訪到夥伴">
            <a:extLst xmlns:a="http://schemas.openxmlformats.org/drawingml/2006/main">
              <a:ext uri="{FF2B5EF4-FFF2-40B4-BE49-F238E27FC236}">
                <a16:creationId xmlns:a16="http://schemas.microsoft.com/office/drawing/2014/main" id="{F2E07B32-BBA6-4414-A4B7-11BEC0C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從初訪到夥伴</a:t>
            </a:r>
          </a:p>
        </p:txBody>
      </p:sp>
      <p:sp>
        <p:nvSpPr>
          <p:cNvPr id="7" name="依個人紀錄呈現未拜訪、已相識與夥伴。&#10;有效拜訪累">
            <a:extLst xmlns:a="http://schemas.openxmlformats.org/drawingml/2006/main">
              <a:ext uri="{FF2B5EF4-FFF2-40B4-BE49-F238E27FC236}">
                <a16:creationId xmlns:a16="http://schemas.microsoft.com/office/drawing/2014/main" id="{56C83766-5EBB-41E0-B735-FC833B2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依個人紀錄呈現未拜訪、已相識與夥伴。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有效拜訪累積遊戲羈絆與靈葉。</a:t>
            </a:r>
          </a:p>
        </p:txBody>
      </p:sp>
      <p:sp>
        <p:nvSpPr>
          <p:cNvPr id="8" name="遊戲進度代表互動紀錄，不代表真樹健康或生長量">
            <a:extLst xmlns:a="http://schemas.openxmlformats.org/drawingml/2006/main">
              <a:ext uri="{FF2B5EF4-FFF2-40B4-BE49-F238E27FC236}">
                <a16:creationId xmlns:a16="http://schemas.microsoft.com/office/drawing/2014/main" id="{23EC7424-73F3-4DBB-A2D2-32F6301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遊戲進度代表互動紀錄，不代表真樹健康或生長量</a:t>
            </a:r>
          </a:p>
        </p:txBody>
      </p:sp>
    </p:spTree>
    <p:extLst>
      <p:ext uri="{BB962C8B-B14F-4D97-AF65-F5344CB8AC3E}">
        <p14:creationId xmlns:p14="http://schemas.microsoft.com/office/powerpoint/2010/main" val="1384659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拜訪紀錄如何建立可信度">
            <a:extLst xmlns:a="http://schemas.openxmlformats.org/drawingml/2006/main">
              <a:ext uri="{FF2B5EF4-FFF2-40B4-BE49-F238E27FC236}">
                <a16:creationId xmlns:a16="http://schemas.microsoft.com/office/drawing/2014/main" id="{0F00D389-C7F3-4E70-B444-421667A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拜訪紀錄如何建立可信度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D9A378A-D135-4CE7-A385-3805D23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E29D3D3-E70D-4FCD-96F2-801CB2A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掃描樹牌">
            <a:extLst xmlns:a="http://schemas.openxmlformats.org/drawingml/2006/main">
              <a:ext uri="{FF2B5EF4-FFF2-40B4-BE49-F238E27FC236}">
                <a16:creationId xmlns:a16="http://schemas.microsoft.com/office/drawing/2014/main" id="{5D396E11-B883-4737-8D9A-27AB56F1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掃描樹牌</a:t>
            </a:r>
          </a:p>
        </p:txBody>
      </p:sp>
      <p:sp>
        <p:nvSpPr>
          <p:cNvPr id="5" name="後端解碼官方 QR&#10;對應既有樹木編號">
            <a:extLst xmlns:a="http://schemas.openxmlformats.org/drawingml/2006/main">
              <a:ext uri="{FF2B5EF4-FFF2-40B4-BE49-F238E27FC236}">
                <a16:creationId xmlns:a16="http://schemas.microsoft.com/office/drawing/2014/main" id="{29A1F533-5140-4FEF-8E2F-3DDDA22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後端解碼官方 QR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對應既有樹木編號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E0D44AD-A21A-4172-AF2D-3C29B90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確認定位">
            <a:extLst xmlns:a="http://schemas.openxmlformats.org/drawingml/2006/main">
              <a:ext uri="{FF2B5EF4-FFF2-40B4-BE49-F238E27FC236}">
                <a16:creationId xmlns:a16="http://schemas.microsoft.com/office/drawing/2014/main" id="{ABAFA7A9-14EF-49CC-BA68-2AF0BDA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確認定位</a:t>
            </a:r>
          </a:p>
        </p:txBody>
      </p:sp>
      <p:sp>
        <p:nvSpPr>
          <p:cNvPr id="8" name="比對與樹位距離&#10;檢查 GPS 精度">
            <a:extLst xmlns:a="http://schemas.openxmlformats.org/drawingml/2006/main">
              <a:ext uri="{FF2B5EF4-FFF2-40B4-BE49-F238E27FC236}">
                <a16:creationId xmlns:a16="http://schemas.microsoft.com/office/drawing/2014/main" id="{85326342-157C-49CD-8F85-0CAA7C0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比對與樹位距離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檢查 GPS 精度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E7B4240-F378-43A3-AC99-6E0FDBC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留下觀察">
            <a:extLst xmlns:a="http://schemas.openxmlformats.org/drawingml/2006/main">
              <a:ext uri="{FF2B5EF4-FFF2-40B4-BE49-F238E27FC236}">
                <a16:creationId xmlns:a16="http://schemas.microsoft.com/office/drawing/2014/main" id="{18FBC073-B108-4E01-8EBF-A874AEE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留下觀察</a:t>
            </a:r>
          </a:p>
        </p:txBody>
      </p:sp>
      <p:sp>
        <p:nvSpPr>
          <p:cNvPr id="11" name="記錄看到／不確定／找不到&#10;保存個人故事">
            <a:extLst xmlns:a="http://schemas.openxmlformats.org/drawingml/2006/main">
              <a:ext uri="{FF2B5EF4-FFF2-40B4-BE49-F238E27FC236}">
                <a16:creationId xmlns:a16="http://schemas.microsoft.com/office/drawing/2014/main" id="{FB7D8FC4-5333-4DE4-97A9-0BDD3638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記錄看到／不確定／找不到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保存個人故事</a:t>
            </a:r>
          </a:p>
        </p:txBody>
      </p:sp>
      <p:sp>
        <p:nvSpPr>
          <p:cNvPr id="12" name="一次性掃碼憑證降低重放風險">
            <a:extLst xmlns:a="http://schemas.openxmlformats.org/drawingml/2006/main">
              <a:ext uri="{FF2B5EF4-FFF2-40B4-BE49-F238E27FC236}">
                <a16:creationId xmlns:a16="http://schemas.microsoft.com/office/drawing/2014/main" id="{D5DBAF78-B863-4370-9388-6DA420F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一次性掃碼憑證降低重放風險</a:t>
            </a:r>
          </a:p>
        </p:txBody>
      </p:sp>
      <p:sp>
        <p:nvSpPr>
          <p:cNvPr id="13" name="仍需場測與抽樣覆核；觀察紀錄維持待查核狀態">
            <a:extLst xmlns:a="http://schemas.openxmlformats.org/drawingml/2006/main">
              <a:ext uri="{FF2B5EF4-FFF2-40B4-BE49-F238E27FC236}">
                <a16:creationId xmlns:a16="http://schemas.microsoft.com/office/drawing/2014/main" id="{019DA114-C469-4E5B-881F-E935646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仍需場測與抽樣覆核；觀察紀錄維持待查核狀態</a:t>
            </a:r>
          </a:p>
        </p:txBody>
      </p:sp>
    </p:spTree>
    <p:extLst>
      <p:ext uri="{BB962C8B-B14F-4D97-AF65-F5344CB8AC3E}">
        <p14:creationId xmlns:p14="http://schemas.microsoft.com/office/powerpoint/2010/main" val="1366502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資料端：同一張地圖閱讀樹木與公開資訊">
            <a:extLst xmlns:a="http://schemas.openxmlformats.org/drawingml/2006/main">
              <a:ext uri="{FF2B5EF4-FFF2-40B4-BE49-F238E27FC236}">
                <a16:creationId xmlns:a16="http://schemas.microsoft.com/office/drawing/2014/main" id="{AB43CABA-E669-4ACB-AD56-01BC0A1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資料端：同一張地圖閱讀樹木與公開資訊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6A4E5A9-3C64-4F3C-B6F6-B2DBD28D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E763-7C57-4364-A4B3-690842224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7cae8cecb4c39"/>
          <a:stretch xmlns:a="http://schemas.openxmlformats.org/drawingml/2006/main"/>
        </p:blipFill>
        <p:spPr>
          <a:xfrm xmlns:a="http://schemas.openxmlformats.org/drawingml/2006/main">
            <a:off x="609955" y="1485900"/>
            <a:ext cx="8038391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篩選與鑽取">
            <a:extLst xmlns:a="http://schemas.openxmlformats.org/drawingml/2006/main">
              <a:ext uri="{FF2B5EF4-FFF2-40B4-BE49-F238E27FC236}">
                <a16:creationId xmlns:a16="http://schemas.microsoft.com/office/drawing/2014/main" id="{D99FA6E3-991D-495C-8E16-ED351D1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47825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篩選與鑽取</a:t>
            </a:r>
          </a:p>
        </p:txBody>
      </p:sp>
      <p:sp>
        <p:nvSpPr>
          <p:cNvPr id="5" name="依行政區、路段、樹種&#10;與月份縮小範圍">
            <a:extLst xmlns:a="http://schemas.openxmlformats.org/drawingml/2006/main">
              <a:ext uri="{FF2B5EF4-FFF2-40B4-BE49-F238E27FC236}">
                <a16:creationId xmlns:a16="http://schemas.microsoft.com/office/drawing/2014/main" id="{1ACDFCE4-871C-4292-A021-FEAF116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依行政區、路段、樹種</a:t>
            </a:r>
          </a:p>
          <a:p xmlns:a="http://schemas.openxmlformats.org/drawingml/2006/main">
            <a: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與月份縮小範圍</a:t>
            </a:r>
          </a:p>
        </p:txBody>
      </p:sp>
      <p:sp>
        <p:nvSpPr>
          <p:cNvPr id="6" name="查看與匯出">
            <a:extLst xmlns:a="http://schemas.openxmlformats.org/drawingml/2006/main">
              <a:ext uri="{FF2B5EF4-FFF2-40B4-BE49-F238E27FC236}">
                <a16:creationId xmlns:a16="http://schemas.microsoft.com/office/drawing/2014/main" id="{5745B3A7-E78B-4D1A-BCA2-C32779C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查看與匯出</a:t>
            </a:r>
          </a:p>
        </p:txBody>
      </p:sp>
      <p:sp>
        <p:nvSpPr>
          <p:cNvPr id="7" name="點選樹木看明細&#10;篩選結果匯出 CSV">
            <a:extLst xmlns:a="http://schemas.openxmlformats.org/drawingml/2006/main">
              <a:ext uri="{FF2B5EF4-FFF2-40B4-BE49-F238E27FC236}">
                <a16:creationId xmlns:a16="http://schemas.microsoft.com/office/drawing/2014/main" id="{FF87DD08-7D9A-4220-88F5-731FF86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7672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點選樹木看明細</a:t>
            </a:r>
          </a:p>
          <a:p xmlns:a="http://schemas.openxmlformats.org/drawingml/2006/main">
            <a: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篩選結果匯出 CSV</a:t>
            </a:r>
          </a:p>
        </p:txBody>
      </p:sp>
      <p:sp>
        <p:nvSpPr>
          <p:cNvPr id="8" name="既有版本畫面；模擬通報與風險不作實際養護判定">
            <a:extLst xmlns:a="http://schemas.openxmlformats.org/drawingml/2006/main">
              <a:ext uri="{FF2B5EF4-FFF2-40B4-BE49-F238E27FC236}">
                <a16:creationId xmlns:a16="http://schemas.microsoft.com/office/drawing/2014/main" id="{CBB0142D-D235-4E03-9D0C-DBAC865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既有版本畫面；模擬通報與風險不作實際養護判定</a:t>
            </a:r>
          </a:p>
        </p:txBody>
      </p:sp>
    </p:spTree>
    <p:extLst>
      <p:ext uri="{BB962C8B-B14F-4D97-AF65-F5344CB8AC3E}">
        <p14:creationId xmlns:p14="http://schemas.microsoft.com/office/powerpoint/2010/main" val="396731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官方移除／移植資訊，保留原文脈絡">
            <a:extLst xmlns:a="http://schemas.openxmlformats.org/drawingml/2006/main">
              <a:ext uri="{FF2B5EF4-FFF2-40B4-BE49-F238E27FC236}">
                <a16:creationId xmlns:a16="http://schemas.microsoft.com/office/drawing/2014/main" id="{4787CE73-36C3-41CB-9A43-C6E6BC7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官方移除／移植資訊，保留原文脈絡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5D486D35-B17F-434B-8610-E65EBD5E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76">
            <a:extLst xmlns:a="http://schemas.openxmlformats.org/drawingml/2006/main">
              <a:ext uri="{FF2B5EF4-FFF2-40B4-BE49-F238E27FC236}">
                <a16:creationId xmlns:a16="http://schemas.microsoft.com/office/drawing/2014/main" id="{335FF31C-A377-4BE1-9680-AF47B13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7640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76</a:t>
            </a:r>
          </a:p>
        </p:txBody>
      </p:sp>
      <p:sp>
        <p:nvSpPr>
          <p:cNvPr id="4" name="則公開說明">
            <a:extLst xmlns:a="http://schemas.openxmlformats.org/drawingml/2006/main">
              <a:ext uri="{FF2B5EF4-FFF2-40B4-BE49-F238E27FC236}">
                <a16:creationId xmlns:a16="http://schemas.microsoft.com/office/drawing/2014/main" id="{50AC768F-D68F-4DB2-AAFD-62D916C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則公開說明</a:t>
            </a:r>
          </a:p>
        </p:txBody>
      </p:sp>
      <p:sp>
        <p:nvSpPr>
          <p:cNvPr id="5" name="66 則具概略座標&#10;支援原文閱讀、搜尋與匯出">
            <a:extLst xmlns:a="http://schemas.openxmlformats.org/drawingml/2006/main">
              <a:ext uri="{FF2B5EF4-FFF2-40B4-BE49-F238E27FC236}">
                <a16:creationId xmlns:a16="http://schemas.microsoft.com/office/drawing/2014/main" id="{9EA5D27A-FABF-4A1A-9875-87C7B34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66 則具概略座標</a:t>
            </a:r>
          </a:p>
          <a:p xmlns:a="http://schemas.openxmlformats.org/drawingml/2006/main">
            <a: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支援原文閱讀、搜尋與匯出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CC5A8-BBAC-40FC-991A-E447D258D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681b25d9e4047"/>
          <a:stretch xmlns:a="http://schemas.openxmlformats.org/drawingml/2006/main"/>
        </p:blipFill>
        <p:spPr>
          <a:xfrm xmlns:a="http://schemas.openxmlformats.org/drawingml/2006/main">
            <a:off x="6693836" y="1638300"/>
            <a:ext cx="3662077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說明篇數不等於移除株數">
            <a:extLst xmlns:a="http://schemas.openxmlformats.org/drawingml/2006/main">
              <a:ext uri="{FF2B5EF4-FFF2-40B4-BE49-F238E27FC236}">
                <a16:creationId xmlns:a16="http://schemas.microsoft.com/office/drawing/2014/main" id="{FE3A3129-365F-458A-A3C3-87E855A1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說明篇數不等於移除株數</a:t>
            </a:r>
          </a:p>
        </p:txBody>
      </p:sp>
      <p:sp>
        <p:nvSpPr>
          <p:cNvPr id="8" name="不靠地點接近，自動把官方案件綁到個別行道樹">
            <a:extLst xmlns:a="http://schemas.openxmlformats.org/drawingml/2006/main">
              <a:ext uri="{FF2B5EF4-FFF2-40B4-BE49-F238E27FC236}">
                <a16:creationId xmlns:a16="http://schemas.microsoft.com/office/drawing/2014/main" id="{87BED6A5-FDC6-452F-AE3C-C7832B4F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不靠地點接近，自動把官方案件綁到個別行道樹</a:t>
            </a:r>
          </a:p>
        </p:txBody>
      </p:sp>
    </p:spTree>
    <p:extLst>
      <p:ext uri="{BB962C8B-B14F-4D97-AF65-F5344CB8AC3E}">
        <p14:creationId xmlns:p14="http://schemas.microsoft.com/office/powerpoint/2010/main" val="1047204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資料流程與隱私邊界">
            <a:extLst xmlns:a="http://schemas.openxmlformats.org/drawingml/2006/main">
              <a:ext uri="{FF2B5EF4-FFF2-40B4-BE49-F238E27FC236}">
                <a16:creationId xmlns:a16="http://schemas.microsoft.com/office/drawing/2014/main" id="{48066B27-08B8-43F4-BA5C-989301C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資料流程與隱私邊界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C4E083A-3FB0-48DB-BE02-9F232343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官方資料">
            <a:extLst xmlns:a="http://schemas.openxmlformats.org/drawingml/2006/main">
              <a:ext uri="{FF2B5EF4-FFF2-40B4-BE49-F238E27FC236}">
                <a16:creationId xmlns:a16="http://schemas.microsoft.com/office/drawing/2014/main" id="{AF97F761-F05A-41F2-A5F9-66AA6B0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官方資料</a:t>
            </a:r>
          </a:p>
        </p:txBody>
      </p:sp>
      <p:sp>
        <p:nvSpPr>
          <p:cNvPr id="4" name="行道樹 CSV&#10;座標清理與轉換&#10;供兩端查詢同一樹">
            <a:extLst xmlns:a="http://schemas.openxmlformats.org/drawingml/2006/main">
              <a:ext uri="{FF2B5EF4-FFF2-40B4-BE49-F238E27FC236}">
                <a16:creationId xmlns:a16="http://schemas.microsoft.com/office/drawing/2014/main" id="{01FFB1DF-22FA-4E0E-BAA5-DD9C15B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行道樹 CSV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座標清理與轉換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供兩端查詢同一樹木編號</a:t>
            </a:r>
          </a:p>
        </p:txBody>
      </p:sp>
      <p:sp>
        <p:nvSpPr>
          <p:cNvPr id="5" name="公民觀察">
            <a:extLst xmlns:a="http://schemas.openxmlformats.org/drawingml/2006/main">
              <a:ext uri="{FF2B5EF4-FFF2-40B4-BE49-F238E27FC236}">
                <a16:creationId xmlns:a16="http://schemas.microsoft.com/office/drawing/2014/main" id="{21F31709-38AB-46DA-944B-15440EB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公民觀察</a:t>
            </a:r>
          </a:p>
        </p:txBody>
      </p:sp>
      <p:sp>
        <p:nvSpPr>
          <p:cNvPr id="6" name="掃碼及定位檢核&#10;SQLite 保存原始觀察&#10;審核">
            <a:extLst xmlns:a="http://schemas.openxmlformats.org/drawingml/2006/main">
              <a:ext uri="{FF2B5EF4-FFF2-40B4-BE49-F238E27FC236}">
                <a16:creationId xmlns:a16="http://schemas.microsoft.com/office/drawing/2014/main" id="{0F5185D6-DC90-4286-8665-5762B89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掃碼及定位檢核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SQLite 保存原始觀察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審核狀態另行記錄</a:t>
            </a:r>
          </a:p>
        </p:txBody>
      </p:sp>
      <p:sp>
        <p:nvSpPr>
          <p:cNvPr id="7" name="整合檔已可輸出">
            <a:extLst xmlns:a="http://schemas.openxmlformats.org/drawingml/2006/main">
              <a:ext uri="{FF2B5EF4-FFF2-40B4-BE49-F238E27FC236}">
                <a16:creationId xmlns:a16="http://schemas.microsoft.com/office/drawing/2014/main" id="{51F61E91-2374-43EB-9888-D0A406C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整合檔已可輸出</a:t>
            </a:r>
          </a:p>
        </p:txBody>
      </p:sp>
      <p:sp>
        <p:nvSpPr>
          <p:cNvPr id="8" name="以樹木編號連結觀察與審核狀態&#10;整合檔排除私人故事">
            <a:extLst xmlns:a="http://schemas.openxmlformats.org/drawingml/2006/main">
              <a:ext uri="{FF2B5EF4-FFF2-40B4-BE49-F238E27FC236}">
                <a16:creationId xmlns:a16="http://schemas.microsoft.com/office/drawing/2014/main" id="{0073467F-9704-4303-9AFF-C02B2CDB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以樹木編號連結觀察與審核狀態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整合檔排除私人故事、玩家 ID 與精確裝置座標</a:t>
            </a:r>
          </a:p>
        </p:txBody>
      </p:sp>
      <p:sp>
        <p:nvSpPr>
          <p:cNvPr id="9" name="待完成：KooTree 後台呈現整合資料，以及正">
            <a:extLst xmlns:a="http://schemas.openxmlformats.org/drawingml/2006/main">
              <a:ext uri="{FF2B5EF4-FFF2-40B4-BE49-F238E27FC236}">
                <a16:creationId xmlns:a16="http://schemas.microsoft.com/office/drawing/2014/main" id="{4A056607-D5F7-42EE-ACD2-EC0B6F7D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待完成：KooTree 後台呈現整合資料，以及正式養護流程合作</a:t>
            </a:r>
          </a:p>
        </p:txBody>
      </p:sp>
    </p:spTree>
    <p:extLst>
      <p:ext uri="{BB962C8B-B14F-4D97-AF65-F5344CB8AC3E}">
        <p14:creationId xmlns:p14="http://schemas.microsoft.com/office/powerpoint/2010/main" val="1974707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次 MVP 的完成範圍">
            <a:extLst xmlns:a="http://schemas.openxmlformats.org/drawingml/2006/main">
              <a:ext uri="{FF2B5EF4-FFF2-40B4-BE49-F238E27FC236}">
                <a16:creationId xmlns:a16="http://schemas.microsoft.com/office/drawing/2014/main" id="{6CEA15B2-C4F6-4F55-A462-18277480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本次 MVP 的完成範圍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4E25952E-3425-41F4-8F2D-2FEE0B5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已有可執行功能">
            <a:extLst xmlns:a="http://schemas.openxmlformats.org/drawingml/2006/main">
              <a:ext uri="{FF2B5EF4-FFF2-40B4-BE49-F238E27FC236}">
                <a16:creationId xmlns:a16="http://schemas.microsoft.com/office/drawing/2014/main" id="{7DC23846-4EBA-4548-A582-DFCB479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已有可執行功能</a:t>
            </a:r>
          </a:p>
        </p:txBody>
      </p:sp>
      <p:sp>
        <p:nvSpPr>
          <p:cNvPr id="4" name="官方樹木地圖與資料查詢&#10;居民探索、掃碼與觀察紀錄">
            <a:extLst xmlns:a="http://schemas.openxmlformats.org/drawingml/2006/main">
              <a:ext uri="{FF2B5EF4-FFF2-40B4-BE49-F238E27FC236}">
                <a16:creationId xmlns:a16="http://schemas.microsoft.com/office/drawing/2014/main" id="{012E68A9-BA83-4E8B-9DAD-2CB29D9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官方樹木地圖與資料查詢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居民探索、掃碼與觀察紀錄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會員、遊戲營運與拜訪審核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官方公開說明與 CSV 匯出</a:t>
            </a:r>
          </a:p>
        </p:txBody>
      </p:sp>
      <p:sp>
        <p:nvSpPr>
          <p:cNvPr id="5" name="尚待完成與驗證">
            <a:extLst xmlns:a="http://schemas.openxmlformats.org/drawingml/2006/main">
              <a:ext uri="{FF2B5EF4-FFF2-40B4-BE49-F238E27FC236}">
                <a16:creationId xmlns:a16="http://schemas.microsoft.com/office/drawing/2014/main" id="{490D2EF1-22BB-43D4-945B-6269707D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尚待完成與驗證</a:t>
            </a:r>
          </a:p>
        </p:txBody>
      </p:sp>
      <p:sp>
        <p:nvSpPr>
          <p:cNvPr id="6" name="KooTree 顯示公民觀察 feed&#10;實機場測">
            <a:extLst xmlns:a="http://schemas.openxmlformats.org/drawingml/2006/main">
              <a:ext uri="{FF2B5EF4-FFF2-40B4-BE49-F238E27FC236}">
                <a16:creationId xmlns:a16="http://schemas.microsoft.com/office/drawing/2014/main" id="{E6D6024C-E6BF-4379-9A7C-D5A3FA7D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KooTree 顯示公民觀察 feed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實機場測與持續回訪成效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季節相簿與同角度攝影</a:t>
            </a:r>
          </a:p>
          <a:p xmlns:a="http://schemas.openxmlformats.org/drawingml/2006/main">
            <a: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合作玩法與正式養護工單</a:t>
            </a:r>
          </a:p>
        </p:txBody>
      </p:sp>
      <p:sp>
        <p:nvSpPr>
          <p:cNvPr id="7" name="通報、風險與案件天數為模擬；目前沒有樹木健康 A">
            <a:extLst xmlns:a="http://schemas.openxmlformats.org/drawingml/2006/main">
              <a:ext uri="{FF2B5EF4-FFF2-40B4-BE49-F238E27FC236}">
                <a16:creationId xmlns:a16="http://schemas.microsoft.com/office/drawing/2014/main" id="{FB245F56-46A2-4B6A-BFD4-792F241B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通報、風險與案件天數為模擬；目前沒有樹木健康 AI 診斷</a:t>
            </a:r>
          </a:p>
        </p:txBody>
      </p:sp>
    </p:spTree>
    <p:extLst>
      <p:ext uri="{BB962C8B-B14F-4D97-AF65-F5344CB8AC3E}">
        <p14:creationId xmlns:p14="http://schemas.microsoft.com/office/powerpoint/2010/main" val="1808734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下一步：用小範圍試玩驗證回訪">
            <a:extLst xmlns:a="http://schemas.openxmlformats.org/drawingml/2006/main">
              <a:ext uri="{FF2B5EF4-FFF2-40B4-BE49-F238E27FC236}">
                <a16:creationId xmlns:a16="http://schemas.microsoft.com/office/drawing/2014/main" id="{6A421D2A-8C61-4814-A3CD-53ED44A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下一步：用小範圍試玩驗證回訪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31957DA7-1235-4A7A-8BD6-7BEA371C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先完成街區試玩">
            <a:extLst xmlns:a="http://schemas.openxmlformats.org/drawingml/2006/main">
              <a:ext uri="{FF2B5EF4-FFF2-40B4-BE49-F238E27FC236}">
                <a16:creationId xmlns:a16="http://schemas.microsoft.com/office/drawing/2014/main" id="{87B32C5E-81C3-4D37-826D-CA95A99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先完成街區試玩</a:t>
            </a:r>
          </a:p>
        </p:txBody>
      </p:sp>
      <p:sp>
        <p:nvSpPr>
          <p:cNvPr id="4" name="選一段可公開到訪的步行範圍。&#10;以三至五棵樹測試探">
            <a:extLst xmlns:a="http://schemas.openxmlformats.org/drawingml/2006/main">
              <a:ext uri="{FF2B5EF4-FFF2-40B4-BE49-F238E27FC236}">
                <a16:creationId xmlns:a16="http://schemas.microsoft.com/office/drawing/2014/main" id="{69DB9160-A036-4B91-88B0-158ADC6D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57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選一段可公開到訪的步行範圍。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以三至五棵樹測試探索、掃碼與紀錄。</a:t>
            </a:r>
          </a:p>
        </p:txBody>
      </p:sp>
      <p:sp>
        <p:nvSpPr>
          <p:cNvPr id="5" name="再驗證持續參與">
            <a:extLst xmlns:a="http://schemas.openxmlformats.org/drawingml/2006/main">
              <a:ext uri="{FF2B5EF4-FFF2-40B4-BE49-F238E27FC236}">
                <a16:creationId xmlns:a16="http://schemas.microsoft.com/office/drawing/2014/main" id="{2037652E-F908-4152-9F77-EF57DFF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再驗證持續參與</a:t>
            </a:r>
          </a:p>
        </p:txBody>
      </p:sp>
      <p:sp>
        <p:nvSpPr>
          <p:cNvPr id="6" name="觀察玩家是否跨日回訪同一棵樹。&#10;記錄找錯樹、掃碼">
            <a:extLst xmlns:a="http://schemas.openxmlformats.org/drawingml/2006/main">
              <a:ext uri="{FF2B5EF4-FFF2-40B4-BE49-F238E27FC236}">
                <a16:creationId xmlns:a16="http://schemas.microsoft.com/office/drawing/2014/main" id="{314FDAAA-B5B2-4057-8B44-C616280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1057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觀察玩家是否跨日回訪同一棵樹。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記錄找錯樹、掃碼失敗與 GPS 誤差。</a:t>
            </a:r>
          </a:p>
        </p:txBody>
      </p:sp>
      <p:sp>
        <p:nvSpPr>
          <p:cNvPr id="7" name="通過試玩後，再加入季節相簿與社區合作">
            <a:extLst xmlns:a="http://schemas.openxmlformats.org/drawingml/2006/main">
              <a:ext uri="{FF2B5EF4-FFF2-40B4-BE49-F238E27FC236}">
                <a16:creationId xmlns:a16="http://schemas.microsoft.com/office/drawing/2014/main" id="{4ABE8DDD-C95A-4EA3-9FFD-AE03AB96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通過試玩後，再加入季節相簿與社區合作</a:t>
            </a:r>
          </a:p>
        </p:txBody>
      </p:sp>
      <p:sp>
        <p:nvSpPr>
          <p:cNvPr id="8" name="指標：首次有效拜訪完成率、跨日回訪率、可用觀察比">
            <a:extLst xmlns:a="http://schemas.openxmlformats.org/drawingml/2006/main">
              <a:ext uri="{FF2B5EF4-FFF2-40B4-BE49-F238E27FC236}">
                <a16:creationId xmlns:a16="http://schemas.microsoft.com/office/drawing/2014/main" id="{C09BED35-DE69-427F-86AC-2CB621B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指標：首次有效拜訪完成率、跨日回訪率、可用觀察比例</a:t>
            </a:r>
          </a:p>
        </p:txBody>
      </p:sp>
    </p:spTree>
    <p:extLst>
      <p:ext uri="{BB962C8B-B14F-4D97-AF65-F5344CB8AC3E}">
        <p14:creationId xmlns:p14="http://schemas.microsoft.com/office/powerpoint/2010/main" val="8688541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做伙顧樹，讓樹安好">
            <a:extLst xmlns:a="http://schemas.openxmlformats.org/drawingml/2006/main">
              <a:ext uri="{FF2B5EF4-FFF2-40B4-BE49-F238E27FC236}">
                <a16:creationId xmlns:a16="http://schemas.microsoft.com/office/drawing/2014/main" id="{58A792FB-8E99-4C42-A40A-1F24A43E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做伙顧樹，讓樹安好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273DFC1-8746-4CC1-82C1-433FAC2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AF2EC-1CCC-4F74-917B-FC054F0F8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4b129e26542e7"/>
          <a:stretch xmlns:a="http://schemas.openxmlformats.org/drawingml/2006/main"/>
        </p:blipFill>
        <p:spPr>
          <a:xfrm xmlns:a="http://schemas.openxmlformats.org/drawingml/2006/main">
            <a:off x="621506" y="1514475"/>
            <a:ext cx="7072313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讓每一次探訪&#10;留下能持續累積的觀察">
            <a:extLst xmlns:a="http://schemas.openxmlformats.org/drawingml/2006/main">
              <a:ext uri="{FF2B5EF4-FFF2-40B4-BE49-F238E27FC236}">
                <a16:creationId xmlns:a16="http://schemas.microsoft.com/office/drawing/2014/main" id="{5EBD6FDE-1933-4BF6-9DA8-F95517D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050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讓每一次探訪</a:t>
            </a:r>
          </a:p>
          <a:p xmlns:a="http://schemas.openxmlformats.org/drawingml/2006/main">
            <a: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留下能持續累積的觀察</a:t>
            </a:r>
          </a:p>
        </p:txBody>
      </p:sp>
      <p:sp>
        <p:nvSpPr>
          <p:cNvPr id="5" name="Grovefolk 邀請居民參與&#10;KooTree">
            <a:extLst xmlns:a="http://schemas.openxmlformats.org/drawingml/2006/main">
              <a:ext uri="{FF2B5EF4-FFF2-40B4-BE49-F238E27FC236}">
                <a16:creationId xmlns:a16="http://schemas.microsoft.com/office/drawing/2014/main" id="{C5E6B1E9-E48D-486C-A1FA-D1C42102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Grovefolk 邀請居民參與</a:t>
            </a:r>
          </a:p>
          <a:p xmlns:a="http://schemas.openxmlformats.org/drawingml/2006/main">
            <a: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KooTree 提供資料脈絡</a:t>
            </a:r>
          </a:p>
        </p:txBody>
      </p:sp>
      <p:sp>
        <p:nvSpPr>
          <p:cNvPr id="6" name="下一步邀請&#10;街區試玩與樹木專業協作">
            <a:extLst xmlns:a="http://schemas.openxmlformats.org/drawingml/2006/main">
              <a:ext uri="{FF2B5EF4-FFF2-40B4-BE49-F238E27FC236}">
                <a16:creationId xmlns:a16="http://schemas.microsoft.com/office/drawing/2014/main" id="{71A7DB96-4B5A-4DDE-A77B-B59696E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下一步邀請</a:t>
            </a:r>
          </a:p>
          <a:p xmlns:a="http://schemas.openxmlformats.org/drawingml/2006/main">
            <a: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街區試玩與樹木專業協作</a:t>
            </a:r>
          </a:p>
        </p:txBody>
      </p:sp>
    </p:spTree>
    <p:extLst>
      <p:ext uri="{BB962C8B-B14F-4D97-AF65-F5344CB8AC3E}">
        <p14:creationId xmlns:p14="http://schemas.microsoft.com/office/powerpoint/2010/main" val="1741402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2026-10-22T16:51:09.2540000Z</dcterms:created>
  <dcterms:modified xsi:type="dcterms:W3CDTF">2026-10-22T16:51:09.2540000Z</dcterms:modified>
</coreProperties>
</file>