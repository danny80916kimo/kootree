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97877492f84da2" /><Relationship Type="http://schemas.openxmlformats.org/officeDocument/2006/relationships/extended-properties" Target="/docProps/app.xml" Id="Ra58463ae08db4d67" /><Relationship Type="http://schemas.openxmlformats.org/officeDocument/2006/relationships/officeDocument" Target="/ppt/presentation.xml" Id="Rebb8985ee8cf44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d643aaa72942ab"/>
  </p:sldMasterIdLst>
  <p:notesMasterIdLst>
    <p:notesMasterId xmlns:r="http://schemas.openxmlformats.org/officeDocument/2006/relationships" r:id="R9b7594c38a8442a3"/>
  </p:notesMasterIdLst>
  <p:sldIdLst>
    <p:sldId xmlns:r="http://schemas.openxmlformats.org/officeDocument/2006/relationships" id="256" r:id="R19d4d401e0a2484f"/>
    <p:sldId xmlns:r="http://schemas.openxmlformats.org/officeDocument/2006/relationships" id="257" r:id="R82a784a07cd447b6"/>
    <p:sldId xmlns:r="http://schemas.openxmlformats.org/officeDocument/2006/relationships" id="258" r:id="R0260c8905d8048cf"/>
    <p:sldId xmlns:r="http://schemas.openxmlformats.org/officeDocument/2006/relationships" id="259" r:id="Ra6756305e5a041bf"/>
    <p:sldId xmlns:r="http://schemas.openxmlformats.org/officeDocument/2006/relationships" id="260" r:id="R7983301e1fe44db6"/>
    <p:sldId xmlns:r="http://schemas.openxmlformats.org/officeDocument/2006/relationships" id="261" r:id="R89c6ff4771904011"/>
    <p:sldId xmlns:r="http://schemas.openxmlformats.org/officeDocument/2006/relationships" id="262" r:id="Ra3a3e0e6df1d4312"/>
    <p:sldId xmlns:r="http://schemas.openxmlformats.org/officeDocument/2006/relationships" id="263" r:id="Re7aa2b310c4346a8"/>
    <p:sldId xmlns:r="http://schemas.openxmlformats.org/officeDocument/2006/relationships" id="264" r:id="Ree7ae775f7114ae6"/>
    <p:sldId xmlns:r="http://schemas.openxmlformats.org/officeDocument/2006/relationships" id="265" r:id="R68150749630940c7"/>
    <p:sldId xmlns:r="http://schemas.openxmlformats.org/officeDocument/2006/relationships" id="266" r:id="Ra9a8cfe5a32c48d2"/>
    <p:sldId xmlns:r="http://schemas.openxmlformats.org/officeDocument/2006/relationships" id="267" r:id="R8243f3fca2f849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0729f768fd460a" /><Relationship Type="http://schemas.openxmlformats.org/officeDocument/2006/relationships/slideMaster" Target="/ppt/slideMasters/slideMaster1.xml" Id="R90d643aaa72942ab" /><Relationship Type="http://schemas.openxmlformats.org/officeDocument/2006/relationships/notesMaster" Target="/ppt/notesMasters/notesMaster1.xml" Id="R9b7594c38a8442a3" /><Relationship Type="http://schemas.openxmlformats.org/officeDocument/2006/relationships/presProps" Target="/ppt/presProps.xml" Id="Rc56e43f38e974da3" /><Relationship Type="http://schemas.openxmlformats.org/officeDocument/2006/relationships/tableStyles" Target="/ppt/tableStyles.xml" Id="Ra83126aa12564d84" /><Relationship Type="http://schemas.openxmlformats.org/officeDocument/2006/relationships/slide" Target="/ppt/slides/slide1.xml" Id="R19d4d401e0a2484f" /><Relationship Type="http://schemas.openxmlformats.org/officeDocument/2006/relationships/slide" Target="/ppt/slides/slide2.xml" Id="R82a784a07cd447b6" /><Relationship Type="http://schemas.openxmlformats.org/officeDocument/2006/relationships/slide" Target="/ppt/slides/slide3.xml" Id="R0260c8905d8048cf" /><Relationship Type="http://schemas.openxmlformats.org/officeDocument/2006/relationships/slide" Target="/ppt/slides/slide4.xml" Id="Ra6756305e5a041bf" /><Relationship Type="http://schemas.openxmlformats.org/officeDocument/2006/relationships/slide" Target="/ppt/slides/slide5.xml" Id="R7983301e1fe44db6" /><Relationship Type="http://schemas.openxmlformats.org/officeDocument/2006/relationships/slide" Target="/ppt/slides/slide6.xml" Id="R89c6ff4771904011" /><Relationship Type="http://schemas.openxmlformats.org/officeDocument/2006/relationships/slide" Target="/ppt/slides/slide7.xml" Id="Ra3a3e0e6df1d4312" /><Relationship Type="http://schemas.openxmlformats.org/officeDocument/2006/relationships/slide" Target="/ppt/slides/slide8.xml" Id="Re7aa2b310c4346a8" /><Relationship Type="http://schemas.openxmlformats.org/officeDocument/2006/relationships/slide" Target="/ppt/slides/slide9.xml" Id="Ree7ae775f7114ae6" /><Relationship Type="http://schemas.openxmlformats.org/officeDocument/2006/relationships/slide" Target="/ppt/slides/slide10.xml" Id="R68150749630940c7" /><Relationship Type="http://schemas.openxmlformats.org/officeDocument/2006/relationships/slide" Target="/ppt/slides/slide11.xml" Id="Ra9a8cfe5a32c48d2" /><Relationship Type="http://schemas.openxmlformats.org/officeDocument/2006/relationships/slide" Target="/ppt/slides/slide12.xml" Id="R8243f3fca2f8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eb3534a15e4f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af1937d0534954" /><Relationship Type="http://schemas.openxmlformats.org/officeDocument/2006/relationships/notesMaster" Target="/ppt/notesMasters/notesMaster1.xml" Id="R53db4a697c2745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4fca30106b4652" /><Relationship Type="http://schemas.openxmlformats.org/officeDocument/2006/relationships/notesMaster" Target="/ppt/notesMasters/notesMaster1.xml" Id="Rc5542141f50b43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4e15e77dcd4296" /><Relationship Type="http://schemas.openxmlformats.org/officeDocument/2006/relationships/notesMaster" Target="/ppt/notesMasters/notesMaster1.xml" Id="Rb8b71a9b80f343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819c7bf6744762" /><Relationship Type="http://schemas.openxmlformats.org/officeDocument/2006/relationships/notesMaster" Target="/ppt/notesMasters/notesMaster1.xml" Id="R4861febe0cb940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7eef8208334a96" /><Relationship Type="http://schemas.openxmlformats.org/officeDocument/2006/relationships/notesMaster" Target="/ppt/notesMasters/notesMaster1.xml" Id="Ra7c9ae010df044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af8067142d4243" /><Relationship Type="http://schemas.openxmlformats.org/officeDocument/2006/relationships/notesMaster" Target="/ppt/notesMasters/notesMaster1.xml" Id="Rdc37a878347146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d9614dea374fac" /><Relationship Type="http://schemas.openxmlformats.org/officeDocument/2006/relationships/notesMaster" Target="/ppt/notesMasters/notesMaster1.xml" Id="R0c17dbc387b44f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53c5020f194493" /><Relationship Type="http://schemas.openxmlformats.org/officeDocument/2006/relationships/notesMaster" Target="/ppt/notesMasters/notesMaster1.xml" Id="R7f2e42c6d8db4a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fc2fca85494a9b" /><Relationship Type="http://schemas.openxmlformats.org/officeDocument/2006/relationships/notesMaster" Target="/ppt/notesMasters/notesMaster1.xml" Id="R1b13ef098bbd44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acd95ad6ce47da" /><Relationship Type="http://schemas.openxmlformats.org/officeDocument/2006/relationships/notesMaster" Target="/ppt/notesMasters/notesMaster1.xml" Id="R72273bfffa1e44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7a8e81ca9f4370" /><Relationship Type="http://schemas.openxmlformats.org/officeDocument/2006/relationships/notesMaster" Target="/ppt/notesMasters/notesMaster1.xml" Id="Rccffb9d1c5b740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cff9ca4ed8446e" /><Relationship Type="http://schemas.openxmlformats.org/officeDocument/2006/relationships/notesMaster" Target="/ppt/notesMasters/notesMaster1.xml" Id="R6de59376211443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封面品牌插畫為專案既有生成式示意圖，非實景紀錄。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問題與使用者需求為產品假設，尚未有訪談或量化研究佐證。插畫：assets/branding/kootree-care-journey.png，專案既有示意素材。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Grovefolk feed 已能輸出，KooTree 既有後台尚未顯示此 feed。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本機 trees_clean.csv 計算：90,358 筆、12 個行政區、292 個樹種欄位唯一值。後者不宣稱為分類學物種數。官方原始資料欄位及 TWD97 轉換見 README.md、scripts/data_loader.py。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畫面來源 W:/00_workspace/Grovefolk/data/game-shell-16.png，既有版本截圖。地圖底圖 © OpenStreetMap contributors。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依 Grovefolk README 與 server.py：掃碼憑證綁定玩家及 tree_id，3 分鐘有效、一次使用。預設 nearby 距離 80m、GPS 精度 50m，可由管理參數調整。QR 與 GPS 均可被轉傳或偽造，不能證明實際到訪。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資料端 KooTree。展示截圖沿用既有版本，裁除舊品牌頁首，簡報頁首使用現行品牌「做伙顧樹 KooTree」。截圖來源：output/refined-map-markers.png。標誌：assets/branding/kootree-logo.png。地圖底圖 © OpenStreetMap contributors。通報、風險與案件天數為模擬示範，不作實際養護判定。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來源 data/treesmatch-provenance.json、README.md，快照下載於 2026-10-21。76 則公開說明、66 則具概略座標。官方來源 https://treesmatch.gov.taipei/pkl/public/tree-map/api/clarifications.geojson ，政府資料開放授權條款第1版。截圖 output/official-cases-preview.png，既有版本。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架構依兩專案 README。Grovefolk 使用 SQLite 保存觀察，另原子更新 grovefolk-observations.json。該 feed 不含玩家 ID、私人文字與精確裝置座標。KooTree 尚未顯示此 feed，無正式機關工單串接。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功能狀態依 README 與 Grovefolk README。季節影像與社區玩法來源 docs/樹咱遊戲化與季節影像發想.md，屬提案。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試點與指標為本簡報建議，非既有成果與交付承諾。沒有提出已驗證的留存率或辨識準確率。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來源：本機專案 README.md、app.py、data/trees_clean.csv，以及 W:/00_workspace/Grovefolk/README.md。整理日期 2026-10-23。功能狀態依原始碼與專案文件，未宣稱正式上線或完成實地驗證。 結尾圖：assets/branding/kootree-grove-cooperation-keyvisual-v3.png，既有品牌插畫，原圖含英文 Kootree。合作與永續影響為願景，沒有量化成效宣稱。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afeeba2894f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16ba5094c44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8bb028c6f43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39c91256449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d176a65914a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a4218fc1743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A9A700-CDE4-4637-ACA3-33ED96912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9D3138-0D13-4DC2-BFC5-A83CA4EDF9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51B966-8031-4252-9243-85F2B78C3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443766-B782-4228-8FA8-65BA59835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133CAD-83E4-469F-846A-45CB8D5965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A7AEB3-F7A5-4BD9-BD18-E979D59164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6C8C93-C97C-4A9B-97EE-257AF6ED2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028B38-BDB0-457C-A302-36591DEAB3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BDE362-3C06-4EC9-9B64-4009DFD728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C9A35B-E7E3-4684-B377-A73345312E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af8ca8207946ea" /><Relationship Type="http://schemas.openxmlformats.org/officeDocument/2006/relationships/slideLayout" Target="/ppt/slideLayouts/slideLayout1.xml" Id="Ra9e07107b25a4451" /><Relationship Type="http://schemas.openxmlformats.org/officeDocument/2006/relationships/slideLayout" Target="/ppt/slideLayouts/slideLayout2.xml" Id="R9bb776cb348a4480" /><Relationship Type="http://schemas.openxmlformats.org/officeDocument/2006/relationships/slideLayout" Target="/ppt/slideLayouts/slideLayout3.xml" Id="R3aae2084b683490e" /><Relationship Type="http://schemas.openxmlformats.org/officeDocument/2006/relationships/slideLayout" Target="/ppt/slideLayouts/slideLayout4.xml" Id="Rd14efd8147624859" /><Relationship Type="http://schemas.openxmlformats.org/officeDocument/2006/relationships/slideLayout" Target="/ppt/slideLayouts/slideLayout5.xml" Id="R75397b95b6384906" /><Relationship Type="http://schemas.openxmlformats.org/officeDocument/2006/relationships/slideLayout" Target="/ppt/slideLayouts/slideLayout6.xml" Id="Raf0ceee4edfa42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e07107b25a4451"/>
    <p:sldLayoutId xmlns:r="http://schemas.openxmlformats.org/officeDocument/2006/relationships" id="2147483650" r:id="R9bb776cb348a4480"/>
    <p:sldLayoutId xmlns:r="http://schemas.openxmlformats.org/officeDocument/2006/relationships" id="2147483651" r:id="R3aae2084b683490e"/>
    <p:sldLayoutId xmlns:r="http://schemas.openxmlformats.org/officeDocument/2006/relationships" id="2147483652" r:id="Rd14efd8147624859"/>
    <p:sldLayoutId xmlns:r="http://schemas.openxmlformats.org/officeDocument/2006/relationships" id="2147483653" r:id="R75397b95b6384906"/>
    <p:sldLayoutId xmlns:r="http://schemas.openxmlformats.org/officeDocument/2006/relationships" id="2147483654" r:id="Raf0ceee4edfa42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6281f62f04b5c" /><Relationship Type="http://schemas.openxmlformats.org/officeDocument/2006/relationships/image" Target="/ppt/media/image.png" Id="Rf9edbfa9cecd4da7" /><Relationship Type="http://schemas.openxmlformats.org/officeDocument/2006/relationships/notesSlide" Target="/ppt/notesSlides/notesSlide1.xml" Id="Rc158a080659944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0fc58c7bb42b8" /><Relationship Type="http://schemas.openxmlformats.org/officeDocument/2006/relationships/image" Target="/ppt/media/image2.png" Id="Rbb0619740fa64ed3" /><Relationship Type="http://schemas.openxmlformats.org/officeDocument/2006/relationships/notesSlide" Target="/ppt/notesSlides/notesSlide2.xml" Id="Ree8e1b326b0042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37900ac7a45ce" /><Relationship Type="http://schemas.openxmlformats.org/officeDocument/2006/relationships/notesSlide" Target="/ppt/notesSlides/notesSlide3.xml" Id="Rd5fdc405f3cd4e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c3b3d302445ac" /><Relationship Type="http://schemas.openxmlformats.org/officeDocument/2006/relationships/notesSlide" Target="/ppt/notesSlides/notesSlide4.xml" Id="R446107ee90f3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e6462270041fb" /><Relationship Type="http://schemas.openxmlformats.org/officeDocument/2006/relationships/image" Target="/ppt/media/image.jpeg" Id="R0d5150dd8dbb4a55" /><Relationship Type="http://schemas.openxmlformats.org/officeDocument/2006/relationships/notesSlide" Target="/ppt/notesSlides/notesSlide5.xml" Id="R1228fd2255c6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8ea4dbb944f6e" /><Relationship Type="http://schemas.openxmlformats.org/officeDocument/2006/relationships/notesSlide" Target="/ppt/notesSlides/notesSlide6.xml" Id="R808e57d63d5a40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87d4202b5466d" /><Relationship Type="http://schemas.openxmlformats.org/officeDocument/2006/relationships/image" Target="/ppt/media/image2.jpeg" Id="Reead0a18cc3541b9" /><Relationship Type="http://schemas.openxmlformats.org/officeDocument/2006/relationships/image" Target="/ppt/media/image3.png" Id="R044f41d76e3e4454" /><Relationship Type="http://schemas.openxmlformats.org/officeDocument/2006/relationships/notesSlide" Target="/ppt/notesSlides/notesSlide7.xml" Id="R07fa8c6270e54c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12ac43e87470d" /><Relationship Type="http://schemas.openxmlformats.org/officeDocument/2006/relationships/image" Target="/ppt/media/image3.jpeg" Id="Rd65986e226144987" /><Relationship Type="http://schemas.openxmlformats.org/officeDocument/2006/relationships/notesSlide" Target="/ppt/notesSlides/notesSlide8.xml" Id="R865a1fed82cd48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c77f8bac547c2" /><Relationship Type="http://schemas.openxmlformats.org/officeDocument/2006/relationships/notesSlide" Target="/ppt/notesSlides/notesSlide9.xml" Id="R193bdf86f87f4a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4ce487e454bf6" /><Relationship Type="http://schemas.openxmlformats.org/officeDocument/2006/relationships/notesSlide" Target="/ppt/notesSlides/notesSlide10.xml" Id="Recc45024e97949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e7342ee224d74" /><Relationship Type="http://schemas.openxmlformats.org/officeDocument/2006/relationships/notesSlide" Target="/ppt/notesSlides/notesSlide11.xml" Id="Re64d9d4c717648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e9d602533443e" /><Relationship Type="http://schemas.openxmlformats.org/officeDocument/2006/relationships/image" Target="/ppt/media/image4.png" Id="R4605e32e48f04f07" /><Relationship Type="http://schemas.openxmlformats.org/officeDocument/2006/relationships/notesSlide" Target="/ppt/notesSlides/notesSlide12.xml" Id="R2f3802ed976f47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做伙顧樹 KooTree">
            <a:extLst xmlns:a="http://schemas.openxmlformats.org/drawingml/2006/main">
              <a:ext uri="{FF2B5EF4-FFF2-40B4-BE49-F238E27FC236}">
                <a16:creationId xmlns:a16="http://schemas.microsoft.com/office/drawing/2014/main" id="{26D51599-40D4-4EB0-A6E1-591CE200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做伙顧樹 KooTree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3CFE446F-00BD-4449-B023-68015AD7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城市樹木資訊與公民照護平台">
            <a:extLst xmlns:a="http://schemas.openxmlformats.org/drawingml/2006/main">
              <a:ext uri="{FF2B5EF4-FFF2-40B4-BE49-F238E27FC236}">
                <a16:creationId xmlns:a16="http://schemas.microsoft.com/office/drawing/2014/main" id="{62319E3A-D465-4A58-AAC7-C5999DB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城市樹木資訊與公民照護平台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437DF-E367-48DD-9EC3-395BD3F3D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dbfa9cecd4da7"/>
          <a:stretch xmlns:a="http://schemas.openxmlformats.org/drawingml/2006/main"/>
        </p:blipFill>
        <p:spPr>
          <a:xfrm xmlns:a="http://schemas.openxmlformats.org/drawingml/2006/main">
            <a:off x="5357813" y="2000250"/>
            <a:ext cx="6429375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把街角的一棵樹&#10;變成願意再次探訪的老朋友">
            <a:extLst xmlns:a="http://schemas.openxmlformats.org/drawingml/2006/main">
              <a:ext uri="{FF2B5EF4-FFF2-40B4-BE49-F238E27FC236}">
                <a16:creationId xmlns:a16="http://schemas.microsoft.com/office/drawing/2014/main" id="{4B985650-FAE8-4D8C-990A-BBA2895D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把街角的一棵樹</a:t>
            </a:r>
          </a:p>
          <a:p xmlns:a="http://schemas.openxmlformats.org/drawingml/2006/main">
            <a:pPr>
              <a:buNone/>
              <a:def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變成願意再次探訪的老朋友</a:t>
            </a:r>
          </a:p>
        </p:txBody>
      </p:sp>
      <p:sp>
        <p:nvSpPr>
          <p:cNvPr id="6" name="公民互動 Grovefolk&#10;樹木資料與分析 K">
            <a:extLst xmlns:a="http://schemas.openxmlformats.org/drawingml/2006/main">
              <a:ext uri="{FF2B5EF4-FFF2-40B4-BE49-F238E27FC236}">
                <a16:creationId xmlns:a16="http://schemas.microsoft.com/office/drawing/2014/main" id="{EC2478FD-FBA3-4542-A7DD-C5B41960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公民互動 Grovefolk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樹木資料與分析 KooTree</a:t>
            </a:r>
          </a:p>
        </p:txBody>
      </p:sp>
      <p:sp>
        <p:nvSpPr>
          <p:cNvPr id="7" name="黑客松專案介紹　2026.10">
            <a:extLst xmlns:a="http://schemas.openxmlformats.org/drawingml/2006/main">
              <a:ext uri="{FF2B5EF4-FFF2-40B4-BE49-F238E27FC236}">
                <a16:creationId xmlns:a16="http://schemas.microsoft.com/office/drawing/2014/main" id="{7F850EEF-D200-462C-BAC8-3F13BE0F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黑客松專案介紹　2026.10</a:t>
            </a:r>
          </a:p>
        </p:txBody>
      </p:sp>
    </p:spTree>
    <p:extLst>
      <p:ext uri="{BB962C8B-B14F-4D97-AF65-F5344CB8AC3E}">
        <p14:creationId xmlns:p14="http://schemas.microsoft.com/office/powerpoint/2010/main" val="1661680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街角的樹，缺少持續被關心的理由">
            <a:extLst xmlns:a="http://schemas.openxmlformats.org/drawingml/2006/main">
              <a:ext uri="{FF2B5EF4-FFF2-40B4-BE49-F238E27FC236}">
                <a16:creationId xmlns:a16="http://schemas.microsoft.com/office/drawing/2014/main" id="{2AB6943C-02B7-462A-BE2A-162F656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街角的樹，缺少持續被關心的理由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4A505AB0-52FA-4A0E-A07A-EB8D6AA6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我們要驗證的問題假設">
            <a:extLst xmlns:a="http://schemas.openxmlformats.org/drawingml/2006/main">
              <a:ext uri="{FF2B5EF4-FFF2-40B4-BE49-F238E27FC236}">
                <a16:creationId xmlns:a16="http://schemas.microsoft.com/office/drawing/2014/main" id="{FDF1E5A9-F229-447B-92E4-C6E2050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我們要驗證的問題假設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705F5-3DBA-40F7-B3EB-B5C9838C9B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619740fa64ed3"/>
          <a:stretch xmlns:a="http://schemas.openxmlformats.org/drawingml/2006/main"/>
        </p:blipFill>
        <p:spPr>
          <a:xfrm xmlns:a="http://schemas.openxmlformats.org/drawingml/2006/main">
            <a:off x="1238250" y="2000250"/>
            <a:ext cx="9715500" cy="3238500"/>
          </a:xfrm>
          <a:prstGeom xmlns:a="http://schemas.openxmlformats.org/drawingml/2006/main" prst="rect">
            <a:avLst/>
          </a:prstGeom>
        </p:spPr>
      </p:pic>
      <p:sp>
        <p:nvSpPr>
          <p:cNvPr id="5" name="路過，卻不認識">
            <a:extLst xmlns:a="http://schemas.openxmlformats.org/drawingml/2006/main">
              <a:ext uri="{FF2B5EF4-FFF2-40B4-BE49-F238E27FC236}">
                <a16:creationId xmlns:a16="http://schemas.microsoft.com/office/drawing/2014/main" id="{AEFBBC8D-23C5-426C-91CE-28B9DA8F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路過，卻不認識</a:t>
            </a:r>
          </a:p>
        </p:txBody>
      </p:sp>
      <p:sp>
        <p:nvSpPr>
          <p:cNvPr id="6" name="想參與，缺少入口">
            <a:extLst xmlns:a="http://schemas.openxmlformats.org/drawingml/2006/main">
              <a:ext uri="{FF2B5EF4-FFF2-40B4-BE49-F238E27FC236}">
                <a16:creationId xmlns:a16="http://schemas.microsoft.com/office/drawing/2014/main" id="{D782006F-67AB-4D8F-AA66-38469E7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14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想參與，缺少入口</a:t>
            </a:r>
          </a:p>
        </p:txBody>
      </p:sp>
      <p:sp>
        <p:nvSpPr>
          <p:cNvPr id="7" name="有資料，難連成線">
            <a:extLst xmlns:a="http://schemas.openxmlformats.org/drawingml/2006/main">
              <a:ext uri="{FF2B5EF4-FFF2-40B4-BE49-F238E27FC236}">
                <a16:creationId xmlns:a16="http://schemas.microsoft.com/office/drawing/2014/main" id="{7E133B3E-FDC9-4F7E-8FD9-073D6B3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14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有資料，難連成線</a:t>
            </a:r>
          </a:p>
        </p:txBody>
      </p:sp>
      <p:sp>
        <p:nvSpPr>
          <p:cNvPr id="8" name="關注需要持續">
            <a:extLst xmlns:a="http://schemas.openxmlformats.org/drawingml/2006/main">
              <a:ext uri="{FF2B5EF4-FFF2-40B4-BE49-F238E27FC236}">
                <a16:creationId xmlns:a16="http://schemas.microsoft.com/office/drawing/2014/main" id="{91571559-AFF5-41D2-834B-FDE2F26B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14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關注需要持續</a:t>
            </a:r>
          </a:p>
        </p:txBody>
      </p:sp>
      <p:sp>
        <p:nvSpPr>
          <p:cNvPr id="9" name="居民不容易認出身邊樹木">
            <a:extLst xmlns:a="http://schemas.openxmlformats.org/drawingml/2006/main">
              <a:ext uri="{FF2B5EF4-FFF2-40B4-BE49-F238E27FC236}">
                <a16:creationId xmlns:a16="http://schemas.microsoft.com/office/drawing/2014/main" id="{9DB7F428-E55E-47B4-938D-98E2AF6A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居民不容易認出身邊樹木</a:t>
            </a:r>
          </a:p>
        </p:txBody>
      </p:sp>
      <p:sp>
        <p:nvSpPr>
          <p:cNvPr id="10" name="一次觀察如何累積價值？">
            <a:extLst xmlns:a="http://schemas.openxmlformats.org/drawingml/2006/main">
              <a:ext uri="{FF2B5EF4-FFF2-40B4-BE49-F238E27FC236}">
                <a16:creationId xmlns:a16="http://schemas.microsoft.com/office/drawing/2014/main" id="{50B74FF0-5A5D-4B5D-848E-73608CC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819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一次觀察如何累積價值？</a:t>
            </a:r>
          </a:p>
        </p:txBody>
      </p:sp>
      <p:sp>
        <p:nvSpPr>
          <p:cNvPr id="11" name="官方資料與觀察分散">
            <a:extLst xmlns:a="http://schemas.openxmlformats.org/drawingml/2006/main">
              <a:ext uri="{FF2B5EF4-FFF2-40B4-BE49-F238E27FC236}">
                <a16:creationId xmlns:a16="http://schemas.microsoft.com/office/drawing/2014/main" id="{1EC10228-C3CF-4D8D-A2AE-79B15B3E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19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官方資料與觀察分散</a:t>
            </a:r>
          </a:p>
        </p:txBody>
      </p:sp>
      <p:sp>
        <p:nvSpPr>
          <p:cNvPr id="12" name="回訪動機仍待實測">
            <a:extLst xmlns:a="http://schemas.openxmlformats.org/drawingml/2006/main">
              <a:ext uri="{FF2B5EF4-FFF2-40B4-BE49-F238E27FC236}">
                <a16:creationId xmlns:a16="http://schemas.microsoft.com/office/drawing/2014/main" id="{6ED113C0-B8FF-4E67-8218-798CECD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9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回訪動機仍待實測</a:t>
            </a:r>
          </a:p>
        </p:txBody>
      </p:sp>
    </p:spTree>
    <p:extLst>
      <p:ext uri="{BB962C8B-B14F-4D97-AF65-F5344CB8AC3E}">
        <p14:creationId xmlns:p14="http://schemas.microsoft.com/office/powerpoint/2010/main" val="1627345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一個專案，兩個參與入口">
            <a:extLst xmlns:a="http://schemas.openxmlformats.org/drawingml/2006/main">
              <a:ext uri="{FF2B5EF4-FFF2-40B4-BE49-F238E27FC236}">
                <a16:creationId xmlns:a16="http://schemas.microsoft.com/office/drawing/2014/main" id="{7F02342A-80B2-42ED-B3A8-D6D4B486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一個專案，兩個參與入口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75AEAAD3-677A-4C93-9608-71A6B6D8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居民端">
            <a:extLst xmlns:a="http://schemas.openxmlformats.org/drawingml/2006/main">
              <a:ext uri="{FF2B5EF4-FFF2-40B4-BE49-F238E27FC236}">
                <a16:creationId xmlns:a16="http://schemas.microsoft.com/office/drawing/2014/main" id="{15249384-35B1-4491-AE8A-665E7F5F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居民端</a:t>
            </a:r>
          </a:p>
        </p:txBody>
      </p:sp>
      <p:sp>
        <p:nvSpPr>
          <p:cNvPr id="4" name="森鄰鬥相共 Grovefolk">
            <a:extLst xmlns:a="http://schemas.openxmlformats.org/drawingml/2006/main">
              <a:ext uri="{FF2B5EF4-FFF2-40B4-BE49-F238E27FC236}">
                <a16:creationId xmlns:a16="http://schemas.microsoft.com/office/drawing/2014/main" id="{FCD3F48C-FE6E-44CD-BAF1-A3FD8802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森鄰鬥相共 Grovefolk</a:t>
            </a:r>
          </a:p>
        </p:txBody>
      </p:sp>
      <p:sp>
        <p:nvSpPr>
          <p:cNvPr id="5" name="探索附近真實樹位&#10;掃描官方樹牌並留下觀察&#10;用相識">
            <a:extLst xmlns:a="http://schemas.openxmlformats.org/drawingml/2006/main">
              <a:ext uri="{FF2B5EF4-FFF2-40B4-BE49-F238E27FC236}">
                <a16:creationId xmlns:a16="http://schemas.microsoft.com/office/drawing/2014/main" id="{FE8A22BF-84D9-4476-A662-95D3B1AB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探索附近真實樹位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掃描官方樹牌並留下觀察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用相識與夥伴關係鼓勵回訪</a:t>
            </a:r>
          </a:p>
        </p:txBody>
      </p:sp>
      <p:sp>
        <p:nvSpPr>
          <p:cNvPr id="6" name="資料端">
            <a:extLst xmlns:a="http://schemas.openxmlformats.org/drawingml/2006/main">
              <a:ext uri="{FF2B5EF4-FFF2-40B4-BE49-F238E27FC236}">
                <a16:creationId xmlns:a16="http://schemas.microsoft.com/office/drawing/2014/main" id="{2A461C8B-6A9F-4132-B1C8-F62642D6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287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資料端</a:t>
            </a:r>
          </a:p>
        </p:txBody>
      </p:sp>
      <p:sp>
        <p:nvSpPr>
          <p:cNvPr id="7" name="做伙顧樹 KooTree">
            <a:extLst xmlns:a="http://schemas.openxmlformats.org/drawingml/2006/main">
              <a:ext uri="{FF2B5EF4-FFF2-40B4-BE49-F238E27FC236}">
                <a16:creationId xmlns:a16="http://schemas.microsoft.com/office/drawing/2014/main" id="{F1160D27-4AC2-410A-ADB2-CB15E85F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做伙顧樹 KooTree</a:t>
            </a:r>
          </a:p>
        </p:txBody>
      </p:sp>
      <p:sp>
        <p:nvSpPr>
          <p:cNvPr id="8" name="查詢樹木分布與明細&#10;閱讀官方移除／移植說明&#10;示範">
            <a:extLst xmlns:a="http://schemas.openxmlformats.org/drawingml/2006/main">
              <a:ext uri="{FF2B5EF4-FFF2-40B4-BE49-F238E27FC236}">
                <a16:creationId xmlns:a16="http://schemas.microsoft.com/office/drawing/2014/main" id="{C95AD2A4-B8B0-41C1-AA49-3436B33E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查詢樹木分布與明細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閱讀官方移除／移植說明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示範巡檢與養護分析</a:t>
            </a:r>
          </a:p>
        </p:txBody>
      </p:sp>
      <p:sp>
        <p:nvSpPr>
          <p:cNvPr id="9" name="共同依據：官方樹木編號">
            <a:extLst xmlns:a="http://schemas.openxmlformats.org/drawingml/2006/main">
              <a:ext uri="{FF2B5EF4-FFF2-40B4-BE49-F238E27FC236}">
                <a16:creationId xmlns:a16="http://schemas.microsoft.com/office/drawing/2014/main" id="{ABF612A3-3C68-4DE7-8515-6FB1C27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共同依據：官方樹木編號</a:t>
            </a:r>
          </a:p>
        </p:txBody>
      </p:sp>
      <p:sp>
        <p:nvSpPr>
          <p:cNvPr id="10" name="公民觀察已可輸出整合檔；KooTree 後台顯示">
            <a:extLst xmlns:a="http://schemas.openxmlformats.org/drawingml/2006/main">
              <a:ext uri="{FF2B5EF4-FFF2-40B4-BE49-F238E27FC236}">
                <a16:creationId xmlns:a16="http://schemas.microsoft.com/office/drawing/2014/main" id="{0286B099-7D2E-44A5-9ACF-15FB26D7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公民觀察已可輸出整合檔；KooTree 後台顯示串接仍待完成</a:t>
            </a:r>
          </a:p>
        </p:txBody>
      </p:sp>
    </p:spTree>
    <p:extLst>
      <p:ext uri="{BB962C8B-B14F-4D97-AF65-F5344CB8AC3E}">
        <p14:creationId xmlns:p14="http://schemas.microsoft.com/office/powerpoint/2010/main" val="202105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以臺北行道樹開放資料為底座">
            <a:extLst xmlns:a="http://schemas.openxmlformats.org/drawingml/2006/main">
              <a:ext uri="{FF2B5EF4-FFF2-40B4-BE49-F238E27FC236}">
                <a16:creationId xmlns:a16="http://schemas.microsoft.com/office/drawing/2014/main" id="{C4200D98-F073-42B4-9B3E-55BD6C6A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以臺北行道樹開放資料為底座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08D44723-B25C-404B-8C9F-F30FA272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90,358">
            <a:extLst xmlns:a="http://schemas.openxmlformats.org/drawingml/2006/main">
              <a:ext uri="{FF2B5EF4-FFF2-40B4-BE49-F238E27FC236}">
                <a16:creationId xmlns:a16="http://schemas.microsoft.com/office/drawing/2014/main" id="{63D9FF2C-EDBB-4CEC-8A5F-EEBD5609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90,358</a:t>
            </a:r>
          </a:p>
        </p:txBody>
      </p:sp>
      <p:sp>
        <p:nvSpPr>
          <p:cNvPr id="4" name="筆行道樹資料">
            <a:extLst xmlns:a="http://schemas.openxmlformats.org/drawingml/2006/main">
              <a:ext uri="{FF2B5EF4-FFF2-40B4-BE49-F238E27FC236}">
                <a16:creationId xmlns:a16="http://schemas.microsoft.com/office/drawing/2014/main" id="{E28910F4-57EC-4772-8C88-209DFFC0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筆行道樹資料</a:t>
            </a:r>
          </a:p>
        </p:txBody>
      </p:sp>
      <p:sp>
        <p:nvSpPr>
          <p:cNvPr id="5" name="本機清理快照，非即時全市總量">
            <a:extLst xmlns:a="http://schemas.openxmlformats.org/drawingml/2006/main">
              <a:ext uri="{FF2B5EF4-FFF2-40B4-BE49-F238E27FC236}">
                <a16:creationId xmlns:a16="http://schemas.microsoft.com/office/drawing/2014/main" id="{18261F68-6462-47F0-A5F2-25B4BA8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本機清理快照，非即時全市總量</a:t>
            </a:r>
          </a:p>
        </p:txBody>
      </p:sp>
      <p:sp>
        <p:nvSpPr>
          <p:cNvPr id="6" name="12">
            <a:extLst xmlns:a="http://schemas.openxmlformats.org/drawingml/2006/main">
              <a:ext uri="{FF2B5EF4-FFF2-40B4-BE49-F238E27FC236}">
                <a16:creationId xmlns:a16="http://schemas.microsoft.com/office/drawing/2014/main" id="{F094CA46-9942-4018-A646-152A0E9B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716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0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個行政區">
            <a:extLst xmlns:a="http://schemas.openxmlformats.org/drawingml/2006/main">
              <a:ext uri="{FF2B5EF4-FFF2-40B4-BE49-F238E27FC236}">
                <a16:creationId xmlns:a16="http://schemas.microsoft.com/office/drawing/2014/main" id="{DE182F21-4529-4475-914D-698130DE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9146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個行政區</a:t>
            </a:r>
          </a:p>
        </p:txBody>
      </p:sp>
      <p:sp>
        <p:nvSpPr>
          <p:cNvPr id="8" name="可用欄位">
            <a:extLst xmlns:a="http://schemas.openxmlformats.org/drawingml/2006/main">
              <a:ext uri="{FF2B5EF4-FFF2-40B4-BE49-F238E27FC236}">
                <a16:creationId xmlns:a16="http://schemas.microsoft.com/office/drawing/2014/main" id="{A44C8D02-B15C-430A-8C97-101137B9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可用欄位</a:t>
            </a:r>
          </a:p>
        </p:txBody>
      </p:sp>
      <p:sp>
        <p:nvSpPr>
          <p:cNvPr id="9" name="樹木編號、樹種、位置、胸徑、樹高與調查日期">
            <a:extLst xmlns:a="http://schemas.openxmlformats.org/drawingml/2006/main">
              <a:ext uri="{FF2B5EF4-FFF2-40B4-BE49-F238E27FC236}">
                <a16:creationId xmlns:a16="http://schemas.microsoft.com/office/drawing/2014/main" id="{F3BBBE04-821E-4D6B-8E3C-9CBFA36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樹木編號、樹種、位置、胸徑、樹高與調查日期</a:t>
            </a:r>
          </a:p>
        </p:txBody>
      </p:sp>
      <p:sp>
        <p:nvSpPr>
          <p:cNvPr id="10" name="TWD97 座標轉為 WGS84，供地圖查詢與樹">
            <a:extLst xmlns:a="http://schemas.openxmlformats.org/drawingml/2006/main">
              <a:ext uri="{FF2B5EF4-FFF2-40B4-BE49-F238E27FC236}">
                <a16:creationId xmlns:a16="http://schemas.microsoft.com/office/drawing/2014/main" id="{13336FB1-DEAA-4E3E-BBFE-325FFD02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TWD97 座標轉為 WGS84，供地圖查詢與樹木定位</a:t>
            </a:r>
          </a:p>
        </p:txBody>
      </p:sp>
    </p:spTree>
    <p:extLst>
      <p:ext uri="{BB962C8B-B14F-4D97-AF65-F5344CB8AC3E}">
        <p14:creationId xmlns:p14="http://schemas.microsoft.com/office/powerpoint/2010/main" val="535744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公民端：探索附近的樹靈">
            <a:extLst xmlns:a="http://schemas.openxmlformats.org/drawingml/2006/main">
              <a:ext uri="{FF2B5EF4-FFF2-40B4-BE49-F238E27FC236}">
                <a16:creationId xmlns:a16="http://schemas.microsoft.com/office/drawing/2014/main" id="{2F0832AA-C4DA-4805-946F-76120C1E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公民端：探索附近的樹靈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7B7CF961-BC32-4E11-BDFD-7E51BBA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9BA5F-65F9-4E15-8973-524182B8D6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150dd8dbb4a55"/>
          <a:stretch xmlns:a="http://schemas.openxmlformats.org/drawingml/2006/main"/>
        </p:blipFill>
        <p:spPr>
          <a:xfrm xmlns:a="http://schemas.openxmlformats.org/drawingml/2006/main">
            <a:off x="677924" y="1428750"/>
            <a:ext cx="365430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真實樹位，放進日常散步">
            <a:extLst xmlns:a="http://schemas.openxmlformats.org/drawingml/2006/main">
              <a:ext uri="{FF2B5EF4-FFF2-40B4-BE49-F238E27FC236}">
                <a16:creationId xmlns:a16="http://schemas.microsoft.com/office/drawing/2014/main" id="{80201254-3AFB-488E-8939-4930BE2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真實樹位，放進日常散步</a:t>
            </a:r>
          </a:p>
        </p:txBody>
      </p:sp>
      <p:sp>
        <p:nvSpPr>
          <p:cNvPr id="5" name="地圖顯示附近樹木。&#10;點選樹靈後設定目標或步行導航">
            <a:extLst xmlns:a="http://schemas.openxmlformats.org/drawingml/2006/main">
              <a:ext uri="{FF2B5EF4-FFF2-40B4-BE49-F238E27FC236}">
                <a16:creationId xmlns:a16="http://schemas.microsoft.com/office/drawing/2014/main" id="{A89BCE4D-9F2E-400F-A92A-51A79E53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647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地圖顯示附近樹木。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點選樹靈後設定目標或步行導航。</a:t>
            </a:r>
          </a:p>
        </p:txBody>
      </p:sp>
      <p:sp>
        <p:nvSpPr>
          <p:cNvPr id="6" name="從初訪到夥伴">
            <a:extLst xmlns:a="http://schemas.openxmlformats.org/drawingml/2006/main">
              <a:ext uri="{FF2B5EF4-FFF2-40B4-BE49-F238E27FC236}">
                <a16:creationId xmlns:a16="http://schemas.microsoft.com/office/drawing/2014/main" id="{F2E07B32-BBA6-4414-A4B7-11BEC0C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從初訪到夥伴</a:t>
            </a:r>
          </a:p>
        </p:txBody>
      </p:sp>
      <p:sp>
        <p:nvSpPr>
          <p:cNvPr id="7" name="依個人紀錄呈現未拜訪、已相識與夥伴。&#10;有效拜訪累">
            <a:extLst xmlns:a="http://schemas.openxmlformats.org/drawingml/2006/main">
              <a:ext uri="{FF2B5EF4-FFF2-40B4-BE49-F238E27FC236}">
                <a16:creationId xmlns:a16="http://schemas.microsoft.com/office/drawing/2014/main" id="{56C83766-5EBB-41E0-B735-FC833B23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647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依個人紀錄呈現未拜訪、已相識與夥伴。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有效拜訪累積遊戲羈絆與靈葉。</a:t>
            </a:r>
          </a:p>
        </p:txBody>
      </p:sp>
      <p:sp>
        <p:nvSpPr>
          <p:cNvPr id="8" name="遊戲進度代表互動紀錄，不代表真樹健康或生長量">
            <a:extLst xmlns:a="http://schemas.openxmlformats.org/drawingml/2006/main">
              <a:ext uri="{FF2B5EF4-FFF2-40B4-BE49-F238E27FC236}">
                <a16:creationId xmlns:a16="http://schemas.microsoft.com/office/drawing/2014/main" id="{23EC7424-73F3-4DBB-A2D2-32F6301D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578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遊戲進度代表互動紀錄，不代表真樹健康或生長量</a:t>
            </a:r>
          </a:p>
        </p:txBody>
      </p:sp>
    </p:spTree>
    <p:extLst>
      <p:ext uri="{BB962C8B-B14F-4D97-AF65-F5344CB8AC3E}">
        <p14:creationId xmlns:p14="http://schemas.microsoft.com/office/powerpoint/2010/main" val="1384659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拜訪紀錄如何建立可信度">
            <a:extLst xmlns:a="http://schemas.openxmlformats.org/drawingml/2006/main">
              <a:ext uri="{FF2B5EF4-FFF2-40B4-BE49-F238E27FC236}">
                <a16:creationId xmlns:a16="http://schemas.microsoft.com/office/drawing/2014/main" id="{0F00D389-C7F3-4E70-B444-421667A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拜訪紀錄如何建立可信度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FD9A378A-D135-4CE7-A385-3805D23E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E29D3D3-E70D-4FCD-96F2-801CB2A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掃描樹牌">
            <a:extLst xmlns:a="http://schemas.openxmlformats.org/drawingml/2006/main">
              <a:ext uri="{FF2B5EF4-FFF2-40B4-BE49-F238E27FC236}">
                <a16:creationId xmlns:a16="http://schemas.microsoft.com/office/drawing/2014/main" id="{5D396E11-B883-4737-8D9A-27AB56F1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掃描樹牌</a:t>
            </a:r>
          </a:p>
        </p:txBody>
      </p:sp>
      <p:sp>
        <p:nvSpPr>
          <p:cNvPr id="5" name="後端解碼官方 QR&#10;對應既有樹木編號">
            <a:extLst xmlns:a="http://schemas.openxmlformats.org/drawingml/2006/main">
              <a:ext uri="{FF2B5EF4-FFF2-40B4-BE49-F238E27FC236}">
                <a16:creationId xmlns:a16="http://schemas.microsoft.com/office/drawing/2014/main" id="{29A1F533-5140-4FEF-8E2F-3DDDA223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後端解碼官方 QR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對應既有樹木編號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2E0D44AD-A21A-4172-AF2D-3C29B90C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859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確認定位">
            <a:extLst xmlns:a="http://schemas.openxmlformats.org/drawingml/2006/main">
              <a:ext uri="{FF2B5EF4-FFF2-40B4-BE49-F238E27FC236}">
                <a16:creationId xmlns:a16="http://schemas.microsoft.com/office/drawing/2014/main" id="{ABAFA7A9-14EF-49CC-BA68-2AF0BDA3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確認定位</a:t>
            </a:r>
          </a:p>
        </p:txBody>
      </p:sp>
      <p:sp>
        <p:nvSpPr>
          <p:cNvPr id="8" name="比對與樹位距離&#10;檢查 GPS 精度">
            <a:extLst xmlns:a="http://schemas.openxmlformats.org/drawingml/2006/main">
              <a:ext uri="{FF2B5EF4-FFF2-40B4-BE49-F238E27FC236}">
                <a16:creationId xmlns:a16="http://schemas.microsoft.com/office/drawing/2014/main" id="{85326342-157C-49CD-8F85-0CAA7C0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比對與樹位距離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檢查 GPS 精度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7E7B4240-F378-43A3-AC99-6E0FDBC7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859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625" b="1">
                <a:solidFill>
                  <a:srgbClr val="7F947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留下觀察">
            <a:extLst xmlns:a="http://schemas.openxmlformats.org/drawingml/2006/main">
              <a:ext uri="{FF2B5EF4-FFF2-40B4-BE49-F238E27FC236}">
                <a16:creationId xmlns:a16="http://schemas.microsoft.com/office/drawing/2014/main" id="{18FBC073-B108-4E01-8EBF-A874AEE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留下觀察</a:t>
            </a:r>
          </a:p>
        </p:txBody>
      </p:sp>
      <p:sp>
        <p:nvSpPr>
          <p:cNvPr id="11" name="記錄看到／不確定／找不到&#10;保存個人故事">
            <a:extLst xmlns:a="http://schemas.openxmlformats.org/drawingml/2006/main">
              <a:ext uri="{FF2B5EF4-FFF2-40B4-BE49-F238E27FC236}">
                <a16:creationId xmlns:a16="http://schemas.microsoft.com/office/drawing/2014/main" id="{FB7D8FC4-5333-4DE4-97A9-0BDD3638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記錄看到／不確定／找不到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保存個人故事</a:t>
            </a:r>
          </a:p>
        </p:txBody>
      </p:sp>
      <p:sp>
        <p:nvSpPr>
          <p:cNvPr id="12" name="一次性掃碼憑證降低重放風險">
            <a:extLst xmlns:a="http://schemas.openxmlformats.org/drawingml/2006/main">
              <a:ext uri="{FF2B5EF4-FFF2-40B4-BE49-F238E27FC236}">
                <a16:creationId xmlns:a16="http://schemas.microsoft.com/office/drawing/2014/main" id="{D5DBAF78-B863-4370-9388-6DA420F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一次性掃碼憑證降低重放風險</a:t>
            </a:r>
          </a:p>
        </p:txBody>
      </p:sp>
      <p:sp>
        <p:nvSpPr>
          <p:cNvPr id="13" name="仍需場測與抽樣覆核；觀察紀錄維持待查核狀態">
            <a:extLst xmlns:a="http://schemas.openxmlformats.org/drawingml/2006/main">
              <a:ext uri="{FF2B5EF4-FFF2-40B4-BE49-F238E27FC236}">
                <a16:creationId xmlns:a16="http://schemas.microsoft.com/office/drawing/2014/main" id="{019DA114-C469-4E5B-881F-E935646B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仍需場測與抽樣覆核；觀察紀錄維持待查核狀態</a:t>
            </a:r>
          </a:p>
        </p:txBody>
      </p:sp>
    </p:spTree>
    <p:extLst>
      <p:ext uri="{BB962C8B-B14F-4D97-AF65-F5344CB8AC3E}">
        <p14:creationId xmlns:p14="http://schemas.microsoft.com/office/powerpoint/2010/main" val="1366502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資料端：同一張地圖閱讀樹木與公開資訊">
            <a:extLst xmlns:a="http://schemas.openxmlformats.org/drawingml/2006/main">
              <a:ext uri="{FF2B5EF4-FFF2-40B4-BE49-F238E27FC236}">
                <a16:creationId xmlns:a16="http://schemas.microsoft.com/office/drawing/2014/main" id="{AB43CABA-E669-4ACB-AD56-01BC0A1E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資料端：同一張地圖閱讀樹木與公開資訊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F6A4E5A9-3C64-4F3C-B6F6-B2DBD28D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A3F77-9483-41F1-B7F1-D8BBC4FE4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d0a18cc3541b9"/>
          <a:srcRect xmlns:a="http://schemas.openxmlformats.org/drawingml/2006/main" l="0" t="23000" r="0" b="0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8039100" cy="3648075"/>
          </a:xfrm>
          <a:prstGeom xmlns:a="http://schemas.openxmlformats.org/drawingml/2006/main" prst="rect">
            <a:avLst/>
          </a:prstGeom>
        </p:spPr>
      </p:pic>
      <p:sp>
        <p:nvSpPr>
          <p:cNvPr id="4" name="篩選與鑽取">
            <a:extLst xmlns:a="http://schemas.openxmlformats.org/drawingml/2006/main">
              <a:ext uri="{FF2B5EF4-FFF2-40B4-BE49-F238E27FC236}">
                <a16:creationId xmlns:a16="http://schemas.microsoft.com/office/drawing/2014/main" id="{D99FA6E3-991D-495C-8E16-ED351D13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47825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篩選與鑽取</a:t>
            </a:r>
          </a:p>
        </p:txBody>
      </p:sp>
      <p:sp>
        <p:nvSpPr>
          <p:cNvPr id="5" name="依行政區、路段、樹種&#10;與月份縮小範圍">
            <a:extLst xmlns:a="http://schemas.openxmlformats.org/drawingml/2006/main">
              <a:ext uri="{FF2B5EF4-FFF2-40B4-BE49-F238E27FC236}">
                <a16:creationId xmlns:a16="http://schemas.microsoft.com/office/drawing/2014/main" id="{1ACDFCE4-871C-4292-A021-FEAF1162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7647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依行政區、路段、樹種</a:t>
            </a:r>
          </a:p>
          <a:p xmlns:a="http://schemas.openxmlformats.org/drawingml/2006/main">
            <a: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與月份縮小範圍</a:t>
            </a:r>
          </a:p>
        </p:txBody>
      </p:sp>
      <p:sp>
        <p:nvSpPr>
          <p:cNvPr id="6" name="查看與匯出">
            <a:extLst xmlns:a="http://schemas.openxmlformats.org/drawingml/2006/main">
              <a:ext uri="{FF2B5EF4-FFF2-40B4-BE49-F238E27FC236}">
                <a16:creationId xmlns:a16="http://schemas.microsoft.com/office/drawing/2014/main" id="{5745B3A7-E78B-4D1A-BCA2-C32779C6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671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查看與匯出</a:t>
            </a:r>
          </a:p>
        </p:txBody>
      </p:sp>
      <p:sp>
        <p:nvSpPr>
          <p:cNvPr id="7" name="點選樹木看明細&#10;篩選結果匯出 CSV">
            <a:extLst xmlns:a="http://schemas.openxmlformats.org/drawingml/2006/main">
              <a:ext uri="{FF2B5EF4-FFF2-40B4-BE49-F238E27FC236}">
                <a16:creationId xmlns:a16="http://schemas.microsoft.com/office/drawing/2014/main" id="{FF87DD08-7D9A-4220-88F5-731FF86C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7672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點選樹木看明細</a:t>
            </a:r>
          </a:p>
          <a:p xmlns:a="http://schemas.openxmlformats.org/drawingml/2006/main">
            <a: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篩選結果匯出 CSV</a:t>
            </a:r>
          </a:p>
        </p:txBody>
      </p:sp>
      <p:sp>
        <p:nvSpPr>
          <p:cNvPr id="8" name="既有版本畫面；模擬通報與風險不作實際養護判定">
            <a:extLst xmlns:a="http://schemas.openxmlformats.org/drawingml/2006/main">
              <a:ext uri="{FF2B5EF4-FFF2-40B4-BE49-F238E27FC236}">
                <a16:creationId xmlns:a16="http://schemas.microsoft.com/office/drawing/2014/main" id="{CBB0142D-D235-4E03-9D0C-DBAC8657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既有版本畫面；模擬通報與風險不作實際養護判定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AF86D-1D41-4A8F-888B-00FC3762F8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f41d76e3e4454"/>
          <a:stretch xmlns:a="http://schemas.openxmlformats.org/drawingml/2006/main"/>
        </p:blipFill>
        <p:spPr>
          <a:xfrm xmlns:a="http://schemas.openxmlformats.org/drawingml/2006/main">
            <a:off x="762000" y="1476375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8541F-BC67-46A9-A506-39E1D3C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4763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做伙顧樹 KooTree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95415-5759-44A3-985B-E6E44B0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52625"/>
            <a:ext cx="619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做伙顧樹，讓樹安好。</a:t>
            </a:r>
          </a:p>
        </p:txBody>
      </p:sp>
    </p:spTree>
    <p:extLst>
      <p:ext uri="{BB962C8B-B14F-4D97-AF65-F5344CB8AC3E}">
        <p14:creationId xmlns:p14="http://schemas.microsoft.com/office/powerpoint/2010/main" val="396731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官方移除／移植資訊，保留原文脈絡">
            <a:extLst xmlns:a="http://schemas.openxmlformats.org/drawingml/2006/main">
              <a:ext uri="{FF2B5EF4-FFF2-40B4-BE49-F238E27FC236}">
                <a16:creationId xmlns:a16="http://schemas.microsoft.com/office/drawing/2014/main" id="{4787CE73-36C3-41CB-9A43-C6E6BC74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官方移除／移植資訊，保留原文脈絡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5D486D35-B17F-434B-8610-E65EBD5E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76">
            <a:extLst xmlns:a="http://schemas.openxmlformats.org/drawingml/2006/main">
              <a:ext uri="{FF2B5EF4-FFF2-40B4-BE49-F238E27FC236}">
                <a16:creationId xmlns:a16="http://schemas.microsoft.com/office/drawing/2014/main" id="{335FF31C-A377-4BE1-9680-AF47B132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76400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76</a:t>
            </a:r>
          </a:p>
        </p:txBody>
      </p:sp>
      <p:sp>
        <p:nvSpPr>
          <p:cNvPr id="4" name="則公開說明">
            <a:extLst xmlns:a="http://schemas.openxmlformats.org/drawingml/2006/main">
              <a:ext uri="{FF2B5EF4-FFF2-40B4-BE49-F238E27FC236}">
                <a16:creationId xmlns:a16="http://schemas.microsoft.com/office/drawing/2014/main" id="{50AC768F-D68F-4DB2-AAFD-62D916C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479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則公開說明</a:t>
            </a:r>
          </a:p>
        </p:txBody>
      </p:sp>
      <p:sp>
        <p:nvSpPr>
          <p:cNvPr id="5" name="66 則具概略座標&#10;支援原文閱讀、搜尋與匯出">
            <a:extLst xmlns:a="http://schemas.openxmlformats.org/drawingml/2006/main">
              <a:ext uri="{FF2B5EF4-FFF2-40B4-BE49-F238E27FC236}">
                <a16:creationId xmlns:a16="http://schemas.microsoft.com/office/drawing/2014/main" id="{9EA5D27A-FABF-4A1A-9875-87C7B34D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66 則具概略座標</a:t>
            </a:r>
          </a:p>
          <a:p xmlns:a="http://schemas.openxmlformats.org/drawingml/2006/main">
            <a:pPr>
              <a:buNone/>
              <a:def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支援原文閱讀、搜尋與匯出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D762B-FC17-48BB-82A6-8CC1E764C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986e226144987"/>
          <a:stretch xmlns:a="http://schemas.openxmlformats.org/drawingml/2006/main"/>
        </p:blipFill>
        <p:spPr>
          <a:xfrm xmlns:a="http://schemas.openxmlformats.org/drawingml/2006/main">
            <a:off x="6693836" y="1638300"/>
            <a:ext cx="3662077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說明篇數不等於移除株數">
            <a:extLst xmlns:a="http://schemas.openxmlformats.org/drawingml/2006/main">
              <a:ext uri="{FF2B5EF4-FFF2-40B4-BE49-F238E27FC236}">
                <a16:creationId xmlns:a16="http://schemas.microsoft.com/office/drawing/2014/main" id="{FE3A3129-365F-458A-A3C3-87E855A1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8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說明篇數不等於移除株數</a:t>
            </a:r>
          </a:p>
        </p:txBody>
      </p:sp>
      <p:sp>
        <p:nvSpPr>
          <p:cNvPr id="8" name="不靠地點接近，自動把官方案件綁到個別行道樹">
            <a:extLst xmlns:a="http://schemas.openxmlformats.org/drawingml/2006/main">
              <a:ext uri="{FF2B5EF4-FFF2-40B4-BE49-F238E27FC236}">
                <a16:creationId xmlns:a16="http://schemas.microsoft.com/office/drawing/2014/main" id="{87BED6A5-FDC6-452F-AE3C-C7832B4F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293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不靠地點接近，自動把官方案件綁到個別行道樹</a:t>
            </a:r>
          </a:p>
        </p:txBody>
      </p:sp>
    </p:spTree>
    <p:extLst>
      <p:ext uri="{BB962C8B-B14F-4D97-AF65-F5344CB8AC3E}">
        <p14:creationId xmlns:p14="http://schemas.microsoft.com/office/powerpoint/2010/main" val="1047204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資料流程與隱私邊界">
            <a:extLst xmlns:a="http://schemas.openxmlformats.org/drawingml/2006/main">
              <a:ext uri="{FF2B5EF4-FFF2-40B4-BE49-F238E27FC236}">
                <a16:creationId xmlns:a16="http://schemas.microsoft.com/office/drawing/2014/main" id="{48066B27-08B8-43F4-BA5C-989301C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資料流程與隱私邊界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6C4E083A-3FB0-48DB-BE02-9F232343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官方資料">
            <a:extLst xmlns:a="http://schemas.openxmlformats.org/drawingml/2006/main">
              <a:ext uri="{FF2B5EF4-FFF2-40B4-BE49-F238E27FC236}">
                <a16:creationId xmlns:a16="http://schemas.microsoft.com/office/drawing/2014/main" id="{AF97F761-F05A-41F2-A5F9-66AA6B09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官方資料</a:t>
            </a:r>
          </a:p>
        </p:txBody>
      </p:sp>
      <p:sp>
        <p:nvSpPr>
          <p:cNvPr id="4" name="行道樹 CSV&#10;座標清理與轉換&#10;供兩端查詢同一樹">
            <a:extLst xmlns:a="http://schemas.openxmlformats.org/drawingml/2006/main">
              <a:ext uri="{FF2B5EF4-FFF2-40B4-BE49-F238E27FC236}">
                <a16:creationId xmlns:a16="http://schemas.microsoft.com/office/drawing/2014/main" id="{01FFB1DF-22FA-4E0E-BAA5-DD9C15B1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857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行道樹 CSV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座標清理與轉換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供兩端查詢同一樹木編號</a:t>
            </a:r>
          </a:p>
        </p:txBody>
      </p:sp>
      <p:sp>
        <p:nvSpPr>
          <p:cNvPr id="5" name="公民觀察">
            <a:extLst xmlns:a="http://schemas.openxmlformats.org/drawingml/2006/main">
              <a:ext uri="{FF2B5EF4-FFF2-40B4-BE49-F238E27FC236}">
                <a16:creationId xmlns:a16="http://schemas.microsoft.com/office/drawing/2014/main" id="{21F31709-38AB-46DA-944B-15440EBC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公民觀察</a:t>
            </a:r>
          </a:p>
        </p:txBody>
      </p:sp>
      <p:sp>
        <p:nvSpPr>
          <p:cNvPr id="6" name="掃碼及定位檢核&#10;SQLite 保存原始觀察&#10;審核">
            <a:extLst xmlns:a="http://schemas.openxmlformats.org/drawingml/2006/main">
              <a:ext uri="{FF2B5EF4-FFF2-40B4-BE49-F238E27FC236}">
                <a16:creationId xmlns:a16="http://schemas.microsoft.com/office/drawing/2014/main" id="{0F5185D6-DC90-4286-8665-5762B897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4857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掃碼及定位檢核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SQLite 保存原始觀察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審核狀態另行記錄</a:t>
            </a:r>
          </a:p>
        </p:txBody>
      </p:sp>
      <p:sp>
        <p:nvSpPr>
          <p:cNvPr id="7" name="整合檔已可輸出">
            <a:extLst xmlns:a="http://schemas.openxmlformats.org/drawingml/2006/main">
              <a:ext uri="{FF2B5EF4-FFF2-40B4-BE49-F238E27FC236}">
                <a16:creationId xmlns:a16="http://schemas.microsoft.com/office/drawing/2014/main" id="{51F61E91-2374-43EB-9888-D0A406C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整合檔已可輸出</a:t>
            </a:r>
          </a:p>
        </p:txBody>
      </p:sp>
      <p:sp>
        <p:nvSpPr>
          <p:cNvPr id="8" name="以樹木編號連結觀察與審核狀態&#10;整合檔排除私人故事">
            <a:extLst xmlns:a="http://schemas.openxmlformats.org/drawingml/2006/main">
              <a:ext uri="{FF2B5EF4-FFF2-40B4-BE49-F238E27FC236}">
                <a16:creationId xmlns:a16="http://schemas.microsoft.com/office/drawing/2014/main" id="{0073467F-9704-4303-9AFF-C02B2CDB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以樹木編號連結觀察與審核狀態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整合檔排除私人故事、玩家 ID 與精確裝置座標</a:t>
            </a:r>
          </a:p>
        </p:txBody>
      </p:sp>
      <p:sp>
        <p:nvSpPr>
          <p:cNvPr id="9" name="待完成：KooTree 後台呈現整合資料，以及正">
            <a:extLst xmlns:a="http://schemas.openxmlformats.org/drawingml/2006/main">
              <a:ext uri="{FF2B5EF4-FFF2-40B4-BE49-F238E27FC236}">
                <a16:creationId xmlns:a16="http://schemas.microsoft.com/office/drawing/2014/main" id="{4A056607-D5F7-42EE-ACD2-EC0B6F7D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待完成：KooTree 後台呈現整合資料，以及正式養護流程合作</a:t>
            </a:r>
          </a:p>
        </p:txBody>
      </p:sp>
    </p:spTree>
    <p:extLst>
      <p:ext uri="{BB962C8B-B14F-4D97-AF65-F5344CB8AC3E}">
        <p14:creationId xmlns:p14="http://schemas.microsoft.com/office/powerpoint/2010/main" val="19747078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次 MVP 的完成範圍">
            <a:extLst xmlns:a="http://schemas.openxmlformats.org/drawingml/2006/main">
              <a:ext uri="{FF2B5EF4-FFF2-40B4-BE49-F238E27FC236}">
                <a16:creationId xmlns:a16="http://schemas.microsoft.com/office/drawing/2014/main" id="{6CEA15B2-C4F6-4F55-A462-18277480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本次 MVP 的完成範圍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4E25952E-3425-41F4-8F2D-2FEE0B53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已有可執行功能">
            <a:extLst xmlns:a="http://schemas.openxmlformats.org/drawingml/2006/main">
              <a:ext uri="{FF2B5EF4-FFF2-40B4-BE49-F238E27FC236}">
                <a16:creationId xmlns:a16="http://schemas.microsoft.com/office/drawing/2014/main" id="{7DC23846-4EBA-4548-A582-DFCB4793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已有可執行功能</a:t>
            </a:r>
          </a:p>
        </p:txBody>
      </p:sp>
      <p:sp>
        <p:nvSpPr>
          <p:cNvPr id="4" name="官方樹木地圖與資料查詢&#10;居民探索、掃碼與觀察紀錄">
            <a:extLst xmlns:a="http://schemas.openxmlformats.org/drawingml/2006/main">
              <a:ext uri="{FF2B5EF4-FFF2-40B4-BE49-F238E27FC236}">
                <a16:creationId xmlns:a16="http://schemas.microsoft.com/office/drawing/2014/main" id="{012E68A9-BA83-4E8B-9DAD-2CB29D9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官方樹木地圖與資料查詢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居民探索、掃碼與觀察紀錄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會員、遊戲營運與拜訪審核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官方公開說明與 CSV 匯出</a:t>
            </a:r>
          </a:p>
        </p:txBody>
      </p:sp>
      <p:sp>
        <p:nvSpPr>
          <p:cNvPr id="5" name="尚待完成與驗證">
            <a:extLst xmlns:a="http://schemas.openxmlformats.org/drawingml/2006/main">
              <a:ext uri="{FF2B5EF4-FFF2-40B4-BE49-F238E27FC236}">
                <a16:creationId xmlns:a16="http://schemas.microsoft.com/office/drawing/2014/main" id="{490D2EF1-22BB-43D4-945B-6269707D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尚待完成與驗證</a:t>
            </a:r>
          </a:p>
        </p:txBody>
      </p:sp>
      <p:sp>
        <p:nvSpPr>
          <p:cNvPr id="6" name="KooTree 顯示公民觀察 feed&#10;實機場測">
            <a:extLst xmlns:a="http://schemas.openxmlformats.org/drawingml/2006/main">
              <a:ext uri="{FF2B5EF4-FFF2-40B4-BE49-F238E27FC236}">
                <a16:creationId xmlns:a16="http://schemas.microsoft.com/office/drawing/2014/main" id="{E6D6024C-E6BF-4379-9A7C-D5A3FA7D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KooTree 顯示公民觀察 feed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實機場測與持續回訪成效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季節相簿與同角度攝影</a:t>
            </a:r>
          </a:p>
          <a:p xmlns:a="http://schemas.openxmlformats.org/drawingml/2006/main">
            <a:pPr>
              <a:buNone/>
              <a:def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合作玩法與正式養護工單</a:t>
            </a:r>
          </a:p>
        </p:txBody>
      </p:sp>
      <p:sp>
        <p:nvSpPr>
          <p:cNvPr id="7" name="通報、風險與案件天數為模擬；目前沒有樹木健康 A">
            <a:extLst xmlns:a="http://schemas.openxmlformats.org/drawingml/2006/main">
              <a:ext uri="{FF2B5EF4-FFF2-40B4-BE49-F238E27FC236}">
                <a16:creationId xmlns:a16="http://schemas.microsoft.com/office/drawing/2014/main" id="{FB245F56-46A2-4B6A-BFD4-792F241B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通報、風險與案件天數為模擬；目前沒有樹木健康 AI 診斷</a:t>
            </a:r>
          </a:p>
        </p:txBody>
      </p:sp>
    </p:spTree>
    <p:extLst>
      <p:ext uri="{BB962C8B-B14F-4D97-AF65-F5344CB8AC3E}">
        <p14:creationId xmlns:p14="http://schemas.microsoft.com/office/powerpoint/2010/main" val="1808734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下一步：用小範圍試玩驗證回訪">
            <a:extLst xmlns:a="http://schemas.openxmlformats.org/drawingml/2006/main">
              <a:ext uri="{FF2B5EF4-FFF2-40B4-BE49-F238E27FC236}">
                <a16:creationId xmlns:a16="http://schemas.microsoft.com/office/drawing/2014/main" id="{6A421D2A-8C61-4814-A3CD-53ED44AE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下一步：用小範圍試玩驗證回訪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31957DA7-1235-4A7A-8BD6-7BEA371C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先完成街區試玩">
            <a:extLst xmlns:a="http://schemas.openxmlformats.org/drawingml/2006/main">
              <a:ext uri="{FF2B5EF4-FFF2-40B4-BE49-F238E27FC236}">
                <a16:creationId xmlns:a16="http://schemas.microsoft.com/office/drawing/2014/main" id="{87B32C5E-81C3-4D37-826D-CA95A991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先完成街區試玩</a:t>
            </a:r>
          </a:p>
        </p:txBody>
      </p:sp>
      <p:sp>
        <p:nvSpPr>
          <p:cNvPr id="4" name="選一段可公開到訪的步行範圍。&#10;以三至五棵樹測試探">
            <a:extLst xmlns:a="http://schemas.openxmlformats.org/drawingml/2006/main">
              <a:ext uri="{FF2B5EF4-FFF2-40B4-BE49-F238E27FC236}">
                <a16:creationId xmlns:a16="http://schemas.microsoft.com/office/drawing/2014/main" id="{69DB9160-A036-4B91-88B0-158ADC6D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572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選一段可公開到訪的步行範圍。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以三至五棵樹測試探索、掃碼與紀錄。</a:t>
            </a:r>
          </a:p>
        </p:txBody>
      </p:sp>
      <p:sp>
        <p:nvSpPr>
          <p:cNvPr id="5" name="再驗證持續參與">
            <a:extLst xmlns:a="http://schemas.openxmlformats.org/drawingml/2006/main">
              <a:ext uri="{FF2B5EF4-FFF2-40B4-BE49-F238E27FC236}">
                <a16:creationId xmlns:a16="http://schemas.microsoft.com/office/drawing/2014/main" id="{2037652E-F908-4152-9F77-EF57DFF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再驗證持續參與</a:t>
            </a:r>
          </a:p>
        </p:txBody>
      </p:sp>
      <p:sp>
        <p:nvSpPr>
          <p:cNvPr id="6" name="觀察玩家是否跨日回訪同一棵樹。&#10;記錄找錯樹、掃碼">
            <a:extLst xmlns:a="http://schemas.openxmlformats.org/drawingml/2006/main">
              <a:ext uri="{FF2B5EF4-FFF2-40B4-BE49-F238E27FC236}">
                <a16:creationId xmlns:a16="http://schemas.microsoft.com/office/drawing/2014/main" id="{314FDAAA-B5B2-4057-8B44-C616280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10572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觀察玩家是否跨日回訪同一棵樹。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記錄找錯樹、掃碼失敗與 GPS 誤差。</a:t>
            </a:r>
          </a:p>
        </p:txBody>
      </p:sp>
      <p:sp>
        <p:nvSpPr>
          <p:cNvPr id="7" name="通過試玩後，再加入季節相簿與社區合作">
            <a:extLst xmlns:a="http://schemas.openxmlformats.org/drawingml/2006/main">
              <a:ext uri="{FF2B5EF4-FFF2-40B4-BE49-F238E27FC236}">
                <a16:creationId xmlns:a16="http://schemas.microsoft.com/office/drawing/2014/main" id="{4ABE8DDD-C95A-4EA3-9FFD-AE03AB96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通過試玩後，再加入季節相簿與社區合作</a:t>
            </a:r>
          </a:p>
        </p:txBody>
      </p:sp>
      <p:sp>
        <p:nvSpPr>
          <p:cNvPr id="8" name="指標：首次有效拜訪完成率、跨日回訪率、可用觀察比">
            <a:extLst xmlns:a="http://schemas.openxmlformats.org/drawingml/2006/main">
              <a:ext uri="{FF2B5EF4-FFF2-40B4-BE49-F238E27FC236}">
                <a16:creationId xmlns:a16="http://schemas.microsoft.com/office/drawing/2014/main" id="{C09BED35-DE69-427F-86AC-2CB621BB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指標：首次有效拜訪完成率、跨日回訪率、可用觀察比例</a:t>
            </a:r>
          </a:p>
        </p:txBody>
      </p:sp>
    </p:spTree>
    <p:extLst>
      <p:ext uri="{BB962C8B-B14F-4D97-AF65-F5344CB8AC3E}">
        <p14:creationId xmlns:p14="http://schemas.microsoft.com/office/powerpoint/2010/main" val="8688541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做伙顧樹，讓樹安好">
            <a:extLst xmlns:a="http://schemas.openxmlformats.org/drawingml/2006/main">
              <a:ext uri="{FF2B5EF4-FFF2-40B4-BE49-F238E27FC236}">
                <a16:creationId xmlns:a16="http://schemas.microsoft.com/office/drawing/2014/main" id="{58A792FB-8E99-4C42-A40A-1F24A43E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做伙顧樹，讓樹安好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2273DFC1-8746-4CC1-82C1-433FAC2F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26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18962-A7B0-4B0C-8F7C-F0CE8DEAC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5e32e48f04f07"/>
          <a:stretch xmlns:a="http://schemas.openxmlformats.org/drawingml/2006/main"/>
        </p:blipFill>
        <p:spPr>
          <a:xfrm xmlns:a="http://schemas.openxmlformats.org/drawingml/2006/main">
            <a:off x="621506" y="1514475"/>
            <a:ext cx="7072313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讓每一次探訪&#10;留下能持續累積的觀察">
            <a:extLst xmlns:a="http://schemas.openxmlformats.org/drawingml/2006/main">
              <a:ext uri="{FF2B5EF4-FFF2-40B4-BE49-F238E27FC236}">
                <a16:creationId xmlns:a16="http://schemas.microsoft.com/office/drawing/2014/main" id="{5EBD6FDE-1933-4BF6-9DA8-F95517DE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050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讓每一次探訪</a:t>
            </a:r>
          </a:p>
          <a:p xmlns:a="http://schemas.openxmlformats.org/drawingml/2006/main">
            <a:pPr>
              <a:buNone/>
              <a:def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94E36"/>
                </a:solidFill>
                <a:latin typeface="Microsoft JhengHei"/>
                <a:ea typeface="Microsoft JhengHei"/>
                <a:cs typeface="Microsoft JhengHei"/>
              </a:rPr>
              <a:t>留下能持續累積的觀察</a:t>
            </a:r>
          </a:p>
        </p:txBody>
      </p:sp>
      <p:sp>
        <p:nvSpPr>
          <p:cNvPr id="5" name="Grovefolk 邀請居民參與&#10;KooTree">
            <a:extLst xmlns:a="http://schemas.openxmlformats.org/drawingml/2006/main">
              <a:ext uri="{FF2B5EF4-FFF2-40B4-BE49-F238E27FC236}">
                <a16:creationId xmlns:a16="http://schemas.microsoft.com/office/drawing/2014/main" id="{C5E6B1E9-E48D-486C-A1FA-D1C42102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48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Grovefolk 邀請居民參與</a:t>
            </a:r>
          </a:p>
          <a:p xmlns:a="http://schemas.openxmlformats.org/drawingml/2006/main">
            <a:pPr>
              <a:buNone/>
              <a:def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43A"/>
                </a:solidFill>
                <a:latin typeface="Microsoft JhengHei"/>
                <a:ea typeface="Microsoft JhengHei"/>
                <a:cs typeface="Microsoft JhengHei"/>
              </a:rPr>
              <a:t>KooTree 提供資料脈絡</a:t>
            </a:r>
          </a:p>
        </p:txBody>
      </p:sp>
      <p:sp>
        <p:nvSpPr>
          <p:cNvPr id="6" name="下一步邀請&#10;街區試玩與樹木專業協作">
            <a:extLst xmlns:a="http://schemas.openxmlformats.org/drawingml/2006/main">
              <a:ext uri="{FF2B5EF4-FFF2-40B4-BE49-F238E27FC236}">
                <a16:creationId xmlns:a16="http://schemas.microsoft.com/office/drawing/2014/main" id="{71A7DB96-4B5A-4DDE-A77B-B59696E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67350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下一步邀請</a:t>
            </a:r>
          </a:p>
          <a:p xmlns:a="http://schemas.openxmlformats.org/drawingml/2006/main">
            <a:pPr>
              <a:buNone/>
              <a:def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65A3A"/>
                </a:solidFill>
                <a:latin typeface="Microsoft JhengHei"/>
                <a:ea typeface="Microsoft JhengHei"/>
                <a:cs typeface="Microsoft JhengHei"/>
              </a:rPr>
              <a:t>街區試玩與樹木專業協作</a:t>
            </a:r>
          </a:p>
        </p:txBody>
      </p:sp>
    </p:spTree>
    <p:extLst>
      <p:ext uri="{BB962C8B-B14F-4D97-AF65-F5344CB8AC3E}">
        <p14:creationId xmlns:p14="http://schemas.microsoft.com/office/powerpoint/2010/main" val="1741402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2026-10-22T16:56:54.2690000Z</dcterms:created>
  <dcterms:modified xsi:type="dcterms:W3CDTF">2026-10-22T16:56:54.2690000Z</dcterms:modified>
</coreProperties>
</file>